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8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OpenFarma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2F6FC"/>
                </a:solidFill>
              </a:rPr>
              <a:t>Sistema de Alerta Temprana de
Desabastecimiento Farmacéutico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CCEE"/>
                </a:solidFill>
              </a:rPr>
              <a:t>Predicción con IA · Datos CUM + INVIMA · Canal ciudadano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4114800" cy="59436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4023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Datos al Ecosistema 2026: IA para Colombia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931920"/>
            <a:ext cx="2011680" cy="5943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977639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Categoría: Avanzado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6217920" cy="118872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709160"/>
            <a:ext cx="621792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77316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⚠  EQUIPO — BORRADOR (pendiente inscripción)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3892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DD"/>
                </a:solidFill>
              </a:rPr>
              <a:t>Líder: [NOMBRE]  ·  Analista de Datos: [NOMBRE]  ·  Desarrollador: [NOMBRE]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CCEE"/>
                </a:solidFill>
              </a:rPr>
              <a:t>Contacto: vamanrique@gmail.com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57200"/>
            <a:ext cx="2743200" cy="5486400"/>
          </a:xfrm>
          <a:prstGeom prst="rect">
            <a:avLst/>
          </a:prstGeom>
          <a:solidFill>
            <a:srgbClr val="08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548640"/>
            <a:ext cx="2560320" cy="109728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5943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A87E"/>
                </a:solidFill>
              </a:rPr>
              <a:t>52,830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Medicamentos CUM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3716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99AA"/>
                </a:solidFill>
              </a:rPr>
              <a:t>normalizados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1783080"/>
            <a:ext cx="2560320" cy="109728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A87E"/>
                </a:solidFill>
              </a:rPr>
              <a:t>9,795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Alertas INVIMA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99AA"/>
                </a:solidFill>
              </a:rPr>
              <a:t>17 meses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3017520"/>
            <a:ext cx="2560320" cy="109728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063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A87E"/>
                </a:solidFill>
              </a:rPr>
              <a:t>0.8374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566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840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99AA"/>
                </a:solidFill>
              </a:rPr>
              <a:t>split temporal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4251960"/>
            <a:ext cx="2560320" cy="109728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97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A87E"/>
                </a:solidFill>
              </a:rPr>
              <a:t>3,204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800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Grupos terapéuticos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50749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99AA"/>
                </a:solidFill>
              </a:rPr>
              <a:t>equivalencia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63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CCEE"/>
                </a:solidFill>
              </a:rPr>
              <a:t>🌐  openfarma-production.up.railway.app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6263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</a:rPr>
              <a:t>github.com/vamanrique/OpenFarma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 Problema: Desabastecimiento Farmacéutico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DDEEFF"/>
                </a:solidFill>
              </a:rPr>
              <a:t>Cuando INVIMA publica una alerta de desabastecimiento,
el medicamento ya lleva semanas sin llegar a las farmacias.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11680"/>
            <a:ext cx="365760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365760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83A3A"/>
                </a:solidFill>
              </a:rPr>
              <a:t>9,795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34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alertas INVIMA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en 17 meses (ene 2025 – may 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65760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365760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83A3A"/>
                </a:solidFill>
              </a:rPr>
              <a:t>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34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semanas de retraso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2004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entre escasez real y alerta oficial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65760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011680"/>
            <a:ext cx="365760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83A3A"/>
                </a:solidFill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34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sistemas preventivos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004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públicos integrados en Colombia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El impacto: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Pacientes con enfermedades crónicas interrumpen tratamientos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73752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IPS y clínicas no pueden anticipar compras de emergencia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1266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INVIMA reacciona cuando la escasez ya es un hecho consumado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51575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No existe señal ciudadana integrada con los datos regulatorios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Los Datos: Fuentes Públicas Integradas por Primera Vez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21945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CUM Activos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52,830 presentaciones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</a:rPr>
              <a:t>datos.gov.co · i7cb-raxc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43000"/>
            <a:ext cx="5577840" cy="21945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43000"/>
            <a:ext cx="5577840" cy="7315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CUM Renovación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373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~8,000 registros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23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</a:rPr>
              <a:t>datos.gov.co · vgr4-gemg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11880"/>
            <a:ext cx="5577840" cy="21945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557784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49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</a:rPr>
              <a:t>Alertas INVIMA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062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9,795 entradas limpias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92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</a:rPr>
              <a:t>PDFs portal INVIMA · 17 meses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611880"/>
            <a:ext cx="5577840" cy="21945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57784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749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3A3A"/>
                </a:solidFill>
              </a:rPr>
              <a:t>Reportes ciudadanos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062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Canal propio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92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99AA"/>
                </a:solidFill>
              </a:rPr>
              <a:t>Formulario OpenFarma · activo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00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172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87E"/>
                </a:solidFill>
              </a:rPr>
              <a:t>✓  Primera integración pública completa CUM + INVIMA + Reportes Ciudadanos en Colombia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Arquitectura: Tres Componentes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011680" cy="5303520"/>
          </a:xfrm>
          <a:prstGeom prst="rect">
            <a:avLst/>
          </a:prstGeom>
          <a:solidFill>
            <a:srgbClr val="08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2011680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A87E"/>
                </a:solidFill>
              </a:rPr>
              <a:t>CIUDADANO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Busca medicamento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 alternativas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832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Consulta riesgo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206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Reporta escasez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29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 mapa Colombia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A87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097280"/>
            <a:ext cx="2011680" cy="5303520"/>
          </a:xfrm>
          <a:prstGeom prst="rect">
            <a:avLst/>
          </a:prstGeom>
          <a:solidFill>
            <a:srgbClr val="08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1097280"/>
            <a:ext cx="2011680" cy="7315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1188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568C"/>
                </a:solidFill>
              </a:rPr>
              <a:t>REACT 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React 19 + 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3832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Leaflet 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06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Recharts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029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ARIA a11y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568C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097280"/>
            <a:ext cx="2011680" cy="5303520"/>
          </a:xfrm>
          <a:prstGeom prst="rect">
            <a:avLst/>
          </a:prstGeom>
          <a:solidFill>
            <a:srgbClr val="08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94960" y="1097280"/>
            <a:ext cx="20116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1188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FASTAPI 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Búsqueda CUM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Alternativas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33832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Predicciones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206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Reportes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029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INVIMA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97280"/>
            <a:ext cx="2011680" cy="5303520"/>
          </a:xfrm>
          <a:prstGeom prst="rect">
            <a:avLst/>
          </a:prstGeom>
          <a:solidFill>
            <a:srgbClr val="0822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79" y="1097280"/>
            <a:ext cx="201168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1188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3A3A"/>
                </a:solidFill>
              </a:rPr>
              <a:t>DATOS + 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1737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SQLite 52K CUM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3,204 grupos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3832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INVIMA 17m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206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RF + Calibrado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0292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Bias Tests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3A3A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1097280"/>
            <a:ext cx="1371600" cy="53035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0" y="1097280"/>
            <a:ext cx="1371600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0" y="32004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3A3A"/>
                </a:solidFill>
              </a:rPr>
              <a:t>ALERTA
TEMPRANA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AA"/>
                </a:solidFill>
              </a:rPr>
              <a:t>Deploy: Railway · Auto-deploy desde GitHub main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Pipeline ETL: Calidad Farmacéutica de Alta Precisión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52,830 medicamentos del CUM descargados vía Socrata API (datos.gov.co)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Normalización INN: 420 reglas de sinonimia + 50 patrones de sal farmacéutica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9397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93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3,204 grupos de equivalencia terapéutica construidos con DeepSeek + reglas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9464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94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105 rondas de auditoría INN: radiofármacos, vacunas, biológicos, hemoderivados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449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4495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9,795 alertas INVIMA parseadas de PDFs mensuales (17 meses, ene 2025–may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20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0 duplicados · 0 NULL concentración · 0 mismatches DCI tras auditoría completa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937760"/>
            <a:ext cx="2743200" cy="13716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7E"/>
                </a:solidFill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15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DCIs normalizados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937760"/>
            <a:ext cx="2743200" cy="13716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7E"/>
                </a:solidFill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5715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Rondas auditoría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937760"/>
            <a:ext cx="2743200" cy="13716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7E"/>
                </a:solidFill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715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Duplicados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937760"/>
            <a:ext cx="2743200" cy="13716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7E"/>
                </a:solidFill>
              </a:rPr>
              <a:t>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5715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Meses INVIMA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</a:rPr>
              <a:t>Fallback local: si datos.gov.co no responde, los 52,830 productos siguen disponibles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Modelo Predictivo: Integridad Estadística Rigurosa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83464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834640" cy="64008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87E"/>
                </a:solidFill>
              </a:rPr>
              <a:t>0.8374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split temporal honesto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097280"/>
            <a:ext cx="283464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097280"/>
            <a:ext cx="283464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234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A623"/>
                </a:solidFill>
              </a:rPr>
              <a:t>0.1707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Avg 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331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1.6% positivos reales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097280"/>
            <a:ext cx="283464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097280"/>
            <a:ext cx="2834640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23444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568C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Meses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mar–may 2026 (nunca vistos)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1097280"/>
            <a:ext cx="2560320" cy="1828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097280"/>
            <a:ext cx="2560320" cy="64008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234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83A3A"/>
                </a:solidFill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10 CUM + 5 INVIMA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5486400" cy="347472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7E"/>
                </a:solidFill>
              </a:rPr>
              <a:t>Split Temporal (sin Data Leakage)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6576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Train: ene 2025 – feb 2026 (14 meses)
▸  Test:  mar – may 2026 (3 meses, nunca vistos)
▸  Con split aleatorio: ROC-AUC era 1.000 (data leakage)
▸  Con split temporal: ROC-AUC 0.8374 (honesto)
▸  Modelo producción: reentrenado en todos los datos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3108960"/>
            <a:ext cx="5943600" cy="347472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2004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3A3A"/>
                </a:solidFill>
              </a:rPr>
              <a:t>Top Features por Importancia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749040"/>
            <a:ext cx="838200" cy="34747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3703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invima_sev_actual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37033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83A3A"/>
                </a:solidFill>
              </a:rPr>
              <a:t>27.5%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4297679"/>
            <a:ext cx="643128" cy="34747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425195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invima_peor_sev_hist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4251959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E83A3A"/>
                </a:solidFill>
              </a:rPr>
              <a:t>21.1%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846320"/>
            <a:ext cx="393192" cy="34747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800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invima_meses_monitoreado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48006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A623"/>
                </a:solidFill>
              </a:rPr>
              <a:t>12.9%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5394960"/>
            <a:ext cx="353568" cy="34747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53492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tasa_inactivacion_atc5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534924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A623"/>
                </a:solidFill>
              </a:rPr>
              <a:t>11.6%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5943599"/>
            <a:ext cx="350520" cy="34747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58978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invima_sev_t3_avg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5897879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A623"/>
                </a:solidFill>
              </a:rPr>
              <a:t>11.5%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AA"/>
                </a:solidFill>
              </a:rPr>
              <a:t>Tipo: CalibratedClassifierCV (Platt scaling) + RandomForestClassifier · scikit-learn 1.9.0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La Aplicación: Accesible para Pacientes, Clínicos e INVIMA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286000" cy="4572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Búsqueda en tiempo real en 52,830 medicamentos CUM (Socrata API + fallback local)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Alternativas terapéuticas en 8 niveles: sustituto directo → clase ATC completa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9397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93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Badge de riesgo ML por medicamento: probabilidad 0-100% con nivel Bajo/Medio/Alto/Crítico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9464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🗺️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94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Mapa interactivo de Colombia: riesgo por departamento filtrable por nivel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449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4495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Dashboard de vigilancia: top 20 reportados + spike detector vs. alertas INVIMA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568C"/>
                </a:solidFill>
              </a:rPr>
              <a:t>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20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Señales anticipadas: medicamentos con spike ciudadano sin alerta INVIMA aún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532120"/>
            <a:ext cx="11430000" cy="685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59612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A87E"/>
                </a:solidFill>
              </a:rPr>
              <a:t>🌐  https://openfarma-production.up.railway.app  ·  CI/CD GitHub Actions  ·  16/16 tests verdes  ·  ARIA accesible  ·  MIT License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AA"/>
                </a:solidFill>
              </a:rPr>
              <a:t>Stack: FastAPI · SQLAlchemy · SQLite · React 19 · Vite · Tailwind · Leaflet · Recharts · scikit-learn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Impacto y Escalabilidad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828800" cy="4572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49377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87E"/>
                </a:solidFill>
              </a:rPr>
              <a:t>Impacto Inmediato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52,830 medicamentos monitoreados en tiempo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Canal ciudadano → señal regulatoria directa a INVIMA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Anticipa desabastecimiento 30 días antes que alertas oficiales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Alternativas terapéuticas: reduce impacto de escasez en pacientes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Código abierto MIT: cualquier entidad puede adoptar el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486400" cy="493776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</a:rPr>
              <a:t>Escalabilidad y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🏥  Integración directa API INVIMA (alertas automáticas)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📱  Notificaciones push a IPS y farmacias en riesgo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🌎  Replicable a Ecuador, Perú, Chile (datos similares DIGEMID/ISP)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📈  Re-entreno mensual automático con datos INVIMA nuevos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🤝  Partnership con MinSalud para adopción institucional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172200"/>
            <a:ext cx="11430000" cy="548640"/>
          </a:xfrm>
          <a:prstGeom prst="rect">
            <a:avLst/>
          </a:prstGeom>
          <a:solidFill>
            <a:srgbClr val="00A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362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⭐  github.com/vamanrique/OpenFarma  ·  🌐  openfarma-production.up.railway.app  ·  📧  vamanrique@gmail.com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 Equipo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82880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548640"/>
          </a:xfrm>
          <a:prstGeom prst="rect">
            <a:avLst/>
          </a:prstGeom>
          <a:solidFill>
            <a:srgbClr val="5A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⚠  BORRADOR — Información de participantes pendiente de confirmación para inscripción oficial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3657600" cy="4114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365760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920240"/>
            <a:ext cx="1371600" cy="137160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9659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Líder de Equipo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[NOMBRE COMPLETO]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CCDD"/>
                </a:solidFill>
              </a:rPr>
              <a:t>[Cargo/Institución]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[Ciudad, Colombia]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783080"/>
            <a:ext cx="3657600" cy="4114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783080"/>
            <a:ext cx="365760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40680" y="1920240"/>
            <a:ext cx="1371600" cy="137160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0680" y="19659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Analista de Datos /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[NOMBRE COMPLETO]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CCDD"/>
                </a:solidFill>
              </a:rPr>
              <a:t>[Cargo/Institución]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[Ciudad, Colombia]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783080"/>
            <a:ext cx="3657600" cy="4114800"/>
          </a:xfrm>
          <a:prstGeom prst="rect">
            <a:avLst/>
          </a:prstGeom>
          <a:solidFill>
            <a:srgbClr val="10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783080"/>
            <a:ext cx="365760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72600" y="1920240"/>
            <a:ext cx="1371600" cy="137160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19659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383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Desarrollador Full-Stack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[NOMBRE COMPLETO]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CCDD"/>
                </a:solidFill>
              </a:rPr>
              <a:t>[Cargo/Institución]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AA"/>
                </a:solidFill>
              </a:rPr>
              <a:t>[Ciudad, Colombia]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AA"/>
                </a:solidFill>
              </a:rPr>
              <a:t>Requisito concurso: equipos de 2-4 personas · mínimo una mujer · al menos un perfil técnico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CCEE"/>
                </a:solidFill>
              </a:rPr>
              <a:t>vamanrique@gmail.com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99AA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