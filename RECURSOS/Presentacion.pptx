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farma-production.up.railway.app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995160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20040" y="640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800" b="1" i="0">
                <a:solidFill>
                  <a:srgbClr val="FFFFFF"/>
                </a:solidFill>
              </a:rPr>
              <a:t>OpenFarma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965960"/>
            <a:ext cx="2926080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2103120"/>
            <a:ext cx="6400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 dirty="0">
                <a:solidFill>
                  <a:srgbClr val="BDD5F5"/>
                </a:solidFill>
              </a:rPr>
              <a:t>Sistema de </a:t>
            </a:r>
            <a:r>
              <a:rPr sz="2100" b="0" i="0" dirty="0" err="1">
                <a:solidFill>
                  <a:srgbClr val="BDD5F5"/>
                </a:solidFill>
              </a:rPr>
              <a:t>Alerta</a:t>
            </a:r>
            <a:r>
              <a:rPr sz="2100" b="0" i="0" dirty="0">
                <a:solidFill>
                  <a:srgbClr val="BDD5F5"/>
                </a:solidFill>
              </a:rPr>
              <a:t> </a:t>
            </a:r>
            <a:r>
              <a:rPr sz="2100" b="0" i="0" dirty="0" err="1">
                <a:solidFill>
                  <a:srgbClr val="BDD5F5"/>
                </a:solidFill>
              </a:rPr>
              <a:t>Temprana</a:t>
            </a:r>
            <a:r>
              <a:rPr sz="2100" b="0" i="0" dirty="0">
                <a:solidFill>
                  <a:srgbClr val="BDD5F5"/>
                </a:solidFill>
              </a:rPr>
              <a:t> de
</a:t>
            </a:r>
            <a:r>
              <a:rPr sz="2100" b="0" i="0" dirty="0" err="1">
                <a:solidFill>
                  <a:srgbClr val="BDD5F5"/>
                </a:solidFill>
              </a:rPr>
              <a:t>Desabastecimiento</a:t>
            </a:r>
            <a:r>
              <a:rPr sz="2100" b="0" i="0" dirty="0">
                <a:solidFill>
                  <a:srgbClr val="BDD5F5"/>
                </a:solidFill>
              </a:rPr>
              <a:t> </a:t>
            </a:r>
            <a:r>
              <a:rPr sz="2100" b="0" i="0" dirty="0" err="1" smtClean="0">
                <a:solidFill>
                  <a:srgbClr val="BDD5F5"/>
                </a:solidFill>
              </a:rPr>
              <a:t>Farmac</a:t>
            </a:r>
            <a:r>
              <a:rPr lang="es-419" sz="2100" b="0" i="0" dirty="0" smtClean="0">
                <a:solidFill>
                  <a:srgbClr val="BDD5F5"/>
                </a:solidFill>
              </a:rPr>
              <a:t>é</a:t>
            </a:r>
            <a:r>
              <a:rPr sz="2100" b="0" i="0" dirty="0" err="1" smtClean="0">
                <a:solidFill>
                  <a:srgbClr val="BDD5F5"/>
                </a:solidFill>
              </a:rPr>
              <a:t>utico</a:t>
            </a:r>
            <a:endParaRPr sz="2100" b="0" i="0" dirty="0">
              <a:solidFill>
                <a:srgbClr val="BDD5F5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20040" y="3246120"/>
            <a:ext cx="6400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 smtClean="0">
                <a:solidFill>
                  <a:srgbClr val="7BA8D8"/>
                </a:solidFill>
              </a:rPr>
              <a:t>Predicci</a:t>
            </a:r>
            <a:r>
              <a:rPr lang="es-419" sz="1400" b="0" i="0" dirty="0" err="1" smtClean="0">
                <a:solidFill>
                  <a:srgbClr val="7BA8D8"/>
                </a:solidFill>
              </a:rPr>
              <a:t>ó</a:t>
            </a:r>
            <a:r>
              <a:rPr sz="1400" b="0" i="0" dirty="0" smtClean="0">
                <a:solidFill>
                  <a:srgbClr val="7BA8D8"/>
                </a:solidFill>
              </a:rPr>
              <a:t>n </a:t>
            </a:r>
            <a:r>
              <a:rPr sz="1400" b="0" i="0" dirty="0">
                <a:solidFill>
                  <a:srgbClr val="7BA8D8"/>
                </a:solidFill>
              </a:rPr>
              <a:t>con IA  ·  CUM + INVIMA  ·  </a:t>
            </a:r>
            <a:r>
              <a:rPr sz="1400" b="0" i="0" dirty="0" err="1">
                <a:solidFill>
                  <a:srgbClr val="7BA8D8"/>
                </a:solidFill>
              </a:rPr>
              <a:t>Reportes</a:t>
            </a:r>
            <a:r>
              <a:rPr sz="1400" b="0" i="0" dirty="0">
                <a:solidFill>
                  <a:srgbClr val="7BA8D8"/>
                </a:solidFill>
              </a:rPr>
              <a:t> </a:t>
            </a:r>
            <a:r>
              <a:rPr sz="1400" b="0" i="0" dirty="0" err="1">
                <a:solidFill>
                  <a:srgbClr val="7BA8D8"/>
                </a:solidFill>
              </a:rPr>
              <a:t>Ciudadanos</a:t>
            </a:r>
            <a:endParaRPr sz="1400" b="0" i="0" dirty="0">
              <a:solidFill>
                <a:srgbClr val="7BA8D8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20040" y="3931920"/>
            <a:ext cx="3931920" cy="54864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968496"/>
            <a:ext cx="374903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Datos al Ecosistema 2026: IA para Colombia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3931920"/>
            <a:ext cx="2377440" cy="54864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3968496"/>
            <a:ext cx="2103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 smtClean="0">
                <a:solidFill>
                  <a:srgbClr val="FFFFFF"/>
                </a:solidFill>
              </a:rPr>
              <a:t>Categor</a:t>
            </a:r>
            <a:r>
              <a:rPr lang="es-419" sz="1200" b="1" i="0" dirty="0" smtClean="0">
                <a:solidFill>
                  <a:srgbClr val="FFFFFF"/>
                </a:solidFill>
              </a:rPr>
              <a:t>í</a:t>
            </a:r>
            <a:r>
              <a:rPr sz="1200" b="1" i="0" dirty="0" smtClean="0">
                <a:solidFill>
                  <a:srgbClr val="FFFFFF"/>
                </a:solidFill>
              </a:rPr>
              <a:t>a</a:t>
            </a:r>
            <a:r>
              <a:rPr sz="1200" b="1" i="0" dirty="0">
                <a:solidFill>
                  <a:srgbClr val="FFFFFF"/>
                </a:solidFill>
              </a:rPr>
              <a:t>: </a:t>
            </a:r>
            <a:r>
              <a:rPr sz="1200" b="1" i="0" dirty="0" err="1">
                <a:solidFill>
                  <a:srgbClr val="FFFFFF"/>
                </a:solidFill>
              </a:rPr>
              <a:t>Avanzado</a:t>
            </a:r>
            <a:endParaRPr sz="1200" b="1" i="0" dirty="0">
              <a:solidFill>
                <a:srgbClr val="FFFFFF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20040" y="4709160"/>
            <a:ext cx="6400800" cy="1143000"/>
          </a:xfrm>
          <a:prstGeom prst="rect">
            <a:avLst/>
          </a:prstGeom>
          <a:solidFill>
            <a:srgbClr val="081D3A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4773168"/>
            <a:ext cx="58521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 smtClean="0">
                <a:solidFill>
                  <a:srgbClr val="F5A623"/>
                </a:solidFill>
              </a:rPr>
              <a:t>EQUIPO</a:t>
            </a:r>
            <a:endParaRPr sz="1000" b="1" i="0" dirty="0">
              <a:solidFill>
                <a:srgbClr val="F5A623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6263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000" dirty="0" smtClean="0">
                <a:solidFill>
                  <a:srgbClr val="BBCCDD"/>
                </a:solidFill>
              </a:rPr>
              <a:t>Líder</a:t>
            </a:r>
            <a:r>
              <a:rPr lang="es-419" sz="1000" dirty="0">
                <a:solidFill>
                  <a:srgbClr val="BBCCDD"/>
                </a:solidFill>
              </a:rPr>
              <a:t>: Vladimir Manrique Waldo  ·  Analista de Datos: Laura Vélez Zapata  ·  Comunicador: Daniel Sepúlveda Restrepo</a:t>
            </a:r>
          </a:p>
          <a:p>
            <a:pPr algn="l"/>
            <a:endParaRPr sz="1000" b="0" i="0" dirty="0">
              <a:solidFill>
                <a:srgbClr val="BBCCDD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200" y="53949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BA8D8"/>
                </a:solidFill>
              </a:rPr>
              <a:t>Contacto: vamanrique@gmail.com</a:t>
            </a:r>
          </a:p>
        </p:txBody>
      </p:sp>
      <p:sp>
        <p:nvSpPr>
          <p:cNvPr id="16" name="TextBox 15">
            <a:hlinkClick r:id="rId2"/>
          </p:cNvPr>
          <p:cNvSpPr txBox="1"/>
          <p:nvPr/>
        </p:nvSpPr>
        <p:spPr>
          <a:xfrm>
            <a:off x="320040" y="63093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7BA8D8"/>
                </a:solidFill>
              </a:rPr>
              <a:t>openfarma-production.up.railway.app</a:t>
            </a:r>
            <a:endParaRPr sz="1100" b="0" i="0" dirty="0">
              <a:solidFill>
                <a:srgbClr val="7BA8D8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040880" y="457200"/>
            <a:ext cx="2331720" cy="146304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040880" y="457200"/>
            <a:ext cx="64008" cy="146304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05472" y="53035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68C"/>
                </a:solidFill>
              </a:rPr>
              <a:t>52,830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1188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Medicamentos CUM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1554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normalizados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55480" y="457200"/>
            <a:ext cx="2331720" cy="1463040"/>
          </a:xfrm>
          <a:prstGeom prst="rect">
            <a:avLst/>
          </a:prstGeom>
          <a:solidFill>
            <a:srgbClr val="EDFBF4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555480" y="457200"/>
            <a:ext cx="64008" cy="146304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20072" y="53035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765"/>
                </a:solidFill>
              </a:rPr>
              <a:t>9,795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1188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Alertas INVIMA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1554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17 meses de historial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0" y="3474720"/>
            <a:ext cx="2331720" cy="1463040"/>
          </a:xfrm>
          <a:prstGeom prst="rect">
            <a:avLst/>
          </a:prstGeom>
          <a:solidFill>
            <a:srgbClr val="EDFBF4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040880" y="3474720"/>
            <a:ext cx="64008" cy="146304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205472" y="354787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765"/>
                </a:solidFill>
              </a:rPr>
              <a:t>0.8374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2062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ROC-AUC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5720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split temporal honesto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55480" y="3474720"/>
            <a:ext cx="2331720" cy="146304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555480" y="3474720"/>
            <a:ext cx="64008" cy="146304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720072" y="3547872"/>
            <a:ext cx="2148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68C"/>
                </a:solidFill>
              </a:rPr>
              <a:t>3,204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4206240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 err="1">
                <a:solidFill>
                  <a:srgbClr val="1E293B"/>
                </a:solidFill>
              </a:rPr>
              <a:t>Grupos</a:t>
            </a:r>
            <a:r>
              <a:rPr sz="1100" b="1" i="0" dirty="0">
                <a:solidFill>
                  <a:srgbClr val="1E293B"/>
                </a:solidFill>
              </a:rPr>
              <a:t> </a:t>
            </a:r>
            <a:r>
              <a:rPr sz="1100" b="1" i="0" dirty="0" err="1" smtClean="0">
                <a:solidFill>
                  <a:srgbClr val="1E293B"/>
                </a:solidFill>
              </a:rPr>
              <a:t>terap</a:t>
            </a:r>
            <a:r>
              <a:rPr lang="es-419" sz="1100" b="1" i="0" dirty="0" smtClean="0">
                <a:solidFill>
                  <a:srgbClr val="1E293B"/>
                </a:solidFill>
              </a:rPr>
              <a:t>é</a:t>
            </a:r>
            <a:r>
              <a:rPr sz="1100" b="1" i="0" dirty="0" err="1" smtClean="0">
                <a:solidFill>
                  <a:srgbClr val="1E293B"/>
                </a:solidFill>
              </a:rPr>
              <a:t>uticos</a:t>
            </a:r>
            <a:endParaRPr sz="1100" b="1" i="0" dirty="0">
              <a:solidFill>
                <a:srgbClr val="1E293B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646920" y="45720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equivalencia INN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64922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</a:rPr>
              <a:t>github.com/vamanrique/OpenFarma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0D2B55"/>
                </a:solidFill>
              </a:rPr>
              <a:t>El </a:t>
            </a:r>
            <a:r>
              <a:rPr sz="2700" b="1" i="0" dirty="0" err="1">
                <a:solidFill>
                  <a:srgbClr val="0D2B55"/>
                </a:solidFill>
              </a:rPr>
              <a:t>Problema</a:t>
            </a:r>
            <a:r>
              <a:rPr sz="2700" b="1" i="0" dirty="0">
                <a:solidFill>
                  <a:srgbClr val="0D2B55"/>
                </a:solidFill>
              </a:rPr>
              <a:t>: </a:t>
            </a:r>
            <a:r>
              <a:rPr sz="2700" b="1" i="0" dirty="0" err="1">
                <a:solidFill>
                  <a:srgbClr val="0D2B55"/>
                </a:solidFill>
              </a:rPr>
              <a:t>Desabastecimiento</a:t>
            </a:r>
            <a:r>
              <a:rPr sz="2700" b="1" i="0" dirty="0">
                <a:solidFill>
                  <a:srgbClr val="0D2B55"/>
                </a:solidFill>
              </a:rPr>
              <a:t> </a:t>
            </a:r>
            <a:r>
              <a:rPr sz="2700" b="1" i="0" dirty="0" err="1" smtClean="0">
                <a:solidFill>
                  <a:srgbClr val="0D2B55"/>
                </a:solidFill>
              </a:rPr>
              <a:t>Farmac</a:t>
            </a:r>
            <a:r>
              <a:rPr lang="es-419" sz="2700" b="1" i="0" dirty="0" smtClean="0">
                <a:solidFill>
                  <a:srgbClr val="0D2B55"/>
                </a:solidFill>
              </a:rPr>
              <a:t>é</a:t>
            </a:r>
            <a:r>
              <a:rPr sz="2700" b="1" i="0" dirty="0" err="1" smtClean="0">
                <a:solidFill>
                  <a:srgbClr val="0D2B55"/>
                </a:solidFill>
              </a:rPr>
              <a:t>utico</a:t>
            </a:r>
            <a:endParaRPr sz="2700" b="1" i="0" dirty="0">
              <a:solidFill>
                <a:srgbClr val="0D2B55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14400"/>
            <a:ext cx="2560320" cy="50292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164592"/>
            <a:ext cx="822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C82020"/>
                </a:solidFill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55680" cy="777240"/>
          </a:xfrm>
          <a:prstGeom prst="rect">
            <a:avLst/>
          </a:prstGeom>
          <a:solidFill>
            <a:srgbClr val="FEF2F2"/>
          </a:solidFill>
          <a:ln w="12700">
            <a:solidFill>
              <a:srgbClr val="C8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115568"/>
            <a:ext cx="107899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 err="1">
                <a:solidFill>
                  <a:srgbClr val="C82020"/>
                </a:solidFill>
              </a:rPr>
              <a:t>Cuando</a:t>
            </a:r>
            <a:r>
              <a:rPr sz="1600" b="0" i="1" dirty="0">
                <a:solidFill>
                  <a:srgbClr val="C82020"/>
                </a:solidFill>
              </a:rPr>
              <a:t> INVIMA </a:t>
            </a:r>
            <a:r>
              <a:rPr sz="1600" b="0" i="1" dirty="0" smtClean="0">
                <a:solidFill>
                  <a:srgbClr val="C82020"/>
                </a:solidFill>
              </a:rPr>
              <a:t>p</a:t>
            </a:r>
            <a:r>
              <a:rPr lang="es-419" sz="1600" b="0" i="1" dirty="0" smtClean="0">
                <a:solidFill>
                  <a:srgbClr val="C82020"/>
                </a:solidFill>
              </a:rPr>
              <a:t>ú</a:t>
            </a:r>
            <a:r>
              <a:rPr sz="1600" b="0" i="1" dirty="0" err="1" smtClean="0">
                <a:solidFill>
                  <a:srgbClr val="C82020"/>
                </a:solidFill>
              </a:rPr>
              <a:t>blica</a:t>
            </a:r>
            <a:r>
              <a:rPr sz="1600" b="0" i="1" dirty="0" smtClean="0">
                <a:solidFill>
                  <a:srgbClr val="C82020"/>
                </a:solidFill>
              </a:rPr>
              <a:t> </a:t>
            </a:r>
            <a:r>
              <a:rPr sz="1600" b="0" i="1" dirty="0" err="1">
                <a:solidFill>
                  <a:srgbClr val="C82020"/>
                </a:solidFill>
              </a:rPr>
              <a:t>una</a:t>
            </a:r>
            <a:r>
              <a:rPr sz="1600" b="0" i="1" dirty="0">
                <a:solidFill>
                  <a:srgbClr val="C82020"/>
                </a:solidFill>
              </a:rPr>
              <a:t> </a:t>
            </a:r>
            <a:r>
              <a:rPr sz="1600" b="0" i="1" dirty="0" err="1">
                <a:solidFill>
                  <a:srgbClr val="C82020"/>
                </a:solidFill>
              </a:rPr>
              <a:t>alerta</a:t>
            </a:r>
            <a:r>
              <a:rPr sz="1600" b="0" i="1" dirty="0">
                <a:solidFill>
                  <a:srgbClr val="C82020"/>
                </a:solidFill>
              </a:rPr>
              <a:t>, el </a:t>
            </a:r>
            <a:r>
              <a:rPr sz="1600" b="0" i="1" dirty="0" err="1">
                <a:solidFill>
                  <a:srgbClr val="C82020"/>
                </a:solidFill>
              </a:rPr>
              <a:t>medicamento</a:t>
            </a:r>
            <a:r>
              <a:rPr sz="1600" b="0" i="1" dirty="0">
                <a:solidFill>
                  <a:srgbClr val="C82020"/>
                </a:solidFill>
              </a:rPr>
              <a:t> </a:t>
            </a:r>
            <a:r>
              <a:rPr sz="1600" b="0" i="1" dirty="0" err="1">
                <a:solidFill>
                  <a:srgbClr val="C82020"/>
                </a:solidFill>
              </a:rPr>
              <a:t>ya</a:t>
            </a:r>
            <a:r>
              <a:rPr sz="1600" b="0" i="1" dirty="0">
                <a:solidFill>
                  <a:srgbClr val="C82020"/>
                </a:solidFill>
              </a:rPr>
              <a:t> </a:t>
            </a:r>
            <a:r>
              <a:rPr sz="1600" b="0" i="1" dirty="0" err="1">
                <a:solidFill>
                  <a:srgbClr val="C82020"/>
                </a:solidFill>
              </a:rPr>
              <a:t>lleva</a:t>
            </a:r>
            <a:r>
              <a:rPr sz="1600" b="0" i="1" dirty="0">
                <a:solidFill>
                  <a:srgbClr val="C82020"/>
                </a:solidFill>
              </a:rPr>
              <a:t> </a:t>
            </a:r>
            <a:r>
              <a:rPr sz="1600" b="0" i="1" dirty="0" err="1">
                <a:solidFill>
                  <a:srgbClr val="C82020"/>
                </a:solidFill>
              </a:rPr>
              <a:t>semanas</a:t>
            </a:r>
            <a:r>
              <a:rPr sz="1600" b="0" i="1" dirty="0">
                <a:solidFill>
                  <a:srgbClr val="C82020"/>
                </a:solidFill>
              </a:rPr>
              <a:t> sin </a:t>
            </a:r>
            <a:r>
              <a:rPr sz="1600" b="0" i="1" dirty="0" err="1">
                <a:solidFill>
                  <a:srgbClr val="C82020"/>
                </a:solidFill>
              </a:rPr>
              <a:t>llegar</a:t>
            </a:r>
            <a:r>
              <a:rPr sz="1600" b="0" i="1" dirty="0">
                <a:solidFill>
                  <a:srgbClr val="C82020"/>
                </a:solidFill>
              </a:rPr>
              <a:t> a las </a:t>
            </a:r>
            <a:r>
              <a:rPr sz="1600" b="0" i="1" dirty="0" err="1">
                <a:solidFill>
                  <a:srgbClr val="C82020"/>
                </a:solidFill>
              </a:rPr>
              <a:t>farmacias</a:t>
            </a:r>
            <a:r>
              <a:rPr sz="1600" b="0" i="1" dirty="0">
                <a:solidFill>
                  <a:srgbClr val="C82020"/>
                </a:solidFill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3566160" cy="1508760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64008" cy="1508760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7512" y="2084832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2020"/>
                </a:solidFill>
              </a:rPr>
              <a:t>9,795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4320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alertas INVIMA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08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>
                <a:solidFill>
                  <a:srgbClr val="4A5B6E"/>
                </a:solidFill>
              </a:rPr>
              <a:t>ene</a:t>
            </a:r>
            <a:r>
              <a:rPr sz="900" b="0" i="0" dirty="0">
                <a:solidFill>
                  <a:srgbClr val="4A5B6E"/>
                </a:solidFill>
              </a:rPr>
              <a:t> 2025 – may 2026 (17 </a:t>
            </a:r>
            <a:r>
              <a:rPr sz="900" b="0" i="0" dirty="0" err="1">
                <a:solidFill>
                  <a:srgbClr val="4A5B6E"/>
                </a:solidFill>
              </a:rPr>
              <a:t>meses</a:t>
            </a:r>
            <a:r>
              <a:rPr sz="900" b="0" i="0" dirty="0">
                <a:solidFill>
                  <a:srgbClr val="4A5B6E"/>
                </a:solidFill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2011680"/>
            <a:ext cx="3566160" cy="1508760"/>
          </a:xfrm>
          <a:prstGeom prst="rect">
            <a:avLst/>
          </a:prstGeom>
          <a:solidFill>
            <a:srgbClr val="FFF7ED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89120" y="2011680"/>
            <a:ext cx="64008" cy="150876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2084832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B45A00"/>
                </a:solidFill>
              </a:rPr>
              <a:t>5+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74320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semanas de retraso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10896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entre escasez real y alerta oficial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2011680"/>
            <a:ext cx="3566160" cy="150876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75320" y="2011680"/>
            <a:ext cx="64008" cy="15087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39912" y="2084832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68C"/>
                </a:solidFill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74320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sistemas preventivos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108960"/>
            <a:ext cx="3429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smtClean="0">
                <a:solidFill>
                  <a:srgbClr val="4A5B6E"/>
                </a:solidFill>
              </a:rPr>
              <a:t>p</a:t>
            </a:r>
            <a:r>
              <a:rPr lang="es-419" sz="900" b="0" i="0" dirty="0" smtClean="0">
                <a:solidFill>
                  <a:srgbClr val="4A5B6E"/>
                </a:solidFill>
              </a:rPr>
              <a:t>ú</a:t>
            </a:r>
            <a:r>
              <a:rPr sz="900" b="0" i="0" dirty="0" err="1" smtClean="0">
                <a:solidFill>
                  <a:srgbClr val="4A5B6E"/>
                </a:solidFill>
              </a:rPr>
              <a:t>blicos</a:t>
            </a:r>
            <a:r>
              <a:rPr sz="900" b="0" i="0" dirty="0" smtClean="0">
                <a:solidFill>
                  <a:srgbClr val="4A5B6E"/>
                </a:solidFill>
              </a:rPr>
              <a:t> </a:t>
            </a:r>
            <a:r>
              <a:rPr sz="900" b="0" i="0" dirty="0" err="1">
                <a:solidFill>
                  <a:srgbClr val="4A5B6E"/>
                </a:solidFill>
              </a:rPr>
              <a:t>integrados</a:t>
            </a:r>
            <a:r>
              <a:rPr sz="900" b="0" i="0" dirty="0">
                <a:solidFill>
                  <a:srgbClr val="4A5B6E"/>
                </a:solidFill>
              </a:rPr>
              <a:t> </a:t>
            </a:r>
            <a:r>
              <a:rPr sz="900" b="0" i="0" dirty="0" err="1">
                <a:solidFill>
                  <a:srgbClr val="4A5B6E"/>
                </a:solidFill>
              </a:rPr>
              <a:t>en</a:t>
            </a:r>
            <a:r>
              <a:rPr sz="900" b="0" i="0" dirty="0">
                <a:solidFill>
                  <a:srgbClr val="4A5B6E"/>
                </a:solidFill>
              </a:rPr>
              <a:t> Colombia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Consecuencias concretas: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16052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2020"/>
                </a:solidFill>
              </a:rPr>
              <a:t>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60520"/>
            <a:ext cx="10698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1E293B"/>
                </a:solidFill>
              </a:rPr>
              <a:t>Pacientes</a:t>
            </a:r>
            <a:r>
              <a:rPr sz="1500" b="0" i="0" dirty="0">
                <a:solidFill>
                  <a:srgbClr val="1E293B"/>
                </a:solidFill>
              </a:rPr>
              <a:t> con </a:t>
            </a:r>
            <a:r>
              <a:rPr sz="1500" b="0" i="0" dirty="0" err="1">
                <a:solidFill>
                  <a:srgbClr val="1E293B"/>
                </a:solidFill>
              </a:rPr>
              <a:t>enfermedades</a:t>
            </a:r>
            <a:r>
              <a:rPr sz="1500" b="0" i="0" dirty="0">
                <a:solidFill>
                  <a:srgbClr val="1E293B"/>
                </a:solidFill>
              </a:rPr>
              <a:t> </a:t>
            </a:r>
            <a:r>
              <a:rPr sz="1500" b="0" i="0" dirty="0" err="1" smtClean="0">
                <a:solidFill>
                  <a:srgbClr val="1E293B"/>
                </a:solidFill>
              </a:rPr>
              <a:t>cr</a:t>
            </a:r>
            <a:r>
              <a:rPr lang="es-419" sz="1500" b="0" i="0" dirty="0" err="1" smtClean="0">
                <a:solidFill>
                  <a:srgbClr val="1E293B"/>
                </a:solidFill>
              </a:rPr>
              <a:t>ó</a:t>
            </a:r>
            <a:r>
              <a:rPr sz="1500" b="0" i="0" dirty="0" err="1" smtClean="0">
                <a:solidFill>
                  <a:srgbClr val="1E293B"/>
                </a:solidFill>
              </a:rPr>
              <a:t>nicas</a:t>
            </a:r>
            <a:r>
              <a:rPr sz="1500" b="0" i="0" dirty="0" smtClean="0">
                <a:solidFill>
                  <a:srgbClr val="1E293B"/>
                </a:solidFill>
              </a:rPr>
              <a:t> </a:t>
            </a:r>
            <a:r>
              <a:rPr sz="1500" b="0" i="0" dirty="0" err="1">
                <a:solidFill>
                  <a:srgbClr val="1E293B"/>
                </a:solidFill>
              </a:rPr>
              <a:t>interrumpen</a:t>
            </a:r>
            <a:r>
              <a:rPr sz="1500" b="0" i="0" dirty="0">
                <a:solidFill>
                  <a:srgbClr val="1E293B"/>
                </a:solidFill>
              </a:rPr>
              <a:t> </a:t>
            </a:r>
            <a:r>
              <a:rPr sz="1500" b="0" i="0" dirty="0" err="1" smtClean="0">
                <a:solidFill>
                  <a:srgbClr val="1E293B"/>
                </a:solidFill>
              </a:rPr>
              <a:t>tratamientos</a:t>
            </a:r>
            <a:endParaRPr sz="1500" b="0" i="0" dirty="0">
              <a:solidFill>
                <a:srgbClr val="1E293B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02920" y="463600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2020"/>
                </a:solidFill>
              </a:rPr>
              <a:t>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636008"/>
            <a:ext cx="10698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1E293B"/>
                </a:solidFill>
              </a:rPr>
              <a:t>IPS y </a:t>
            </a:r>
            <a:r>
              <a:rPr sz="1500" b="0" i="0" dirty="0" smtClean="0">
                <a:solidFill>
                  <a:srgbClr val="1E293B"/>
                </a:solidFill>
              </a:rPr>
              <a:t>cl</a:t>
            </a:r>
            <a:r>
              <a:rPr lang="es-419" sz="1500" b="0" i="0" dirty="0" smtClean="0">
                <a:solidFill>
                  <a:srgbClr val="1E293B"/>
                </a:solidFill>
              </a:rPr>
              <a:t>í</a:t>
            </a:r>
            <a:r>
              <a:rPr sz="1500" b="0" i="0" dirty="0" err="1" smtClean="0">
                <a:solidFill>
                  <a:srgbClr val="1E293B"/>
                </a:solidFill>
              </a:rPr>
              <a:t>nicas</a:t>
            </a:r>
            <a:r>
              <a:rPr sz="1500" b="0" i="0" dirty="0" smtClean="0">
                <a:solidFill>
                  <a:srgbClr val="1E293B"/>
                </a:solidFill>
              </a:rPr>
              <a:t> </a:t>
            </a:r>
            <a:r>
              <a:rPr sz="1500" b="0" i="0" dirty="0">
                <a:solidFill>
                  <a:srgbClr val="1E293B"/>
                </a:solidFill>
              </a:rPr>
              <a:t>no </a:t>
            </a:r>
            <a:r>
              <a:rPr sz="1500" b="0" i="0" dirty="0" err="1">
                <a:solidFill>
                  <a:srgbClr val="1E293B"/>
                </a:solidFill>
              </a:rPr>
              <a:t>pueden</a:t>
            </a:r>
            <a:r>
              <a:rPr sz="1500" b="0" i="0" dirty="0">
                <a:solidFill>
                  <a:srgbClr val="1E293B"/>
                </a:solidFill>
              </a:rPr>
              <a:t> </a:t>
            </a:r>
            <a:r>
              <a:rPr sz="1500" b="0" i="0" dirty="0" err="1">
                <a:solidFill>
                  <a:srgbClr val="1E293B"/>
                </a:solidFill>
              </a:rPr>
              <a:t>anticipar</a:t>
            </a:r>
            <a:r>
              <a:rPr sz="1500" b="0" i="0" dirty="0">
                <a:solidFill>
                  <a:srgbClr val="1E293B"/>
                </a:solidFill>
              </a:rPr>
              <a:t> </a:t>
            </a:r>
            <a:r>
              <a:rPr sz="1500" b="0" i="0" dirty="0" err="1">
                <a:solidFill>
                  <a:srgbClr val="1E293B"/>
                </a:solidFill>
              </a:rPr>
              <a:t>compras</a:t>
            </a:r>
            <a:r>
              <a:rPr sz="1500" b="0" i="0" dirty="0">
                <a:solidFill>
                  <a:srgbClr val="1E293B"/>
                </a:solidFill>
              </a:rPr>
              <a:t> de </a:t>
            </a:r>
            <a:r>
              <a:rPr sz="1500" b="0" i="0" dirty="0" err="1">
                <a:solidFill>
                  <a:srgbClr val="1E293B"/>
                </a:solidFill>
              </a:rPr>
              <a:t>emergencia</a:t>
            </a:r>
            <a:endParaRPr sz="1500" b="0" i="0" dirty="0">
              <a:solidFill>
                <a:srgbClr val="1E293B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02920" y="511149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2020"/>
                </a:solidFill>
              </a:rPr>
              <a:t>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111496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93B"/>
                </a:solidFill>
              </a:rPr>
              <a:t>INVIMA reacciona cuando la escasez ya es un hecho consumado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586983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2020"/>
                </a:solidFill>
              </a:rPr>
              <a:t>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586983"/>
            <a:ext cx="1069848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1E293B"/>
                </a:solidFill>
              </a:rPr>
              <a:t>No </a:t>
            </a:r>
            <a:r>
              <a:rPr sz="1500" b="0" i="0" dirty="0" err="1">
                <a:solidFill>
                  <a:srgbClr val="1E293B"/>
                </a:solidFill>
              </a:rPr>
              <a:t>existe</a:t>
            </a:r>
            <a:r>
              <a:rPr sz="1500" b="0" i="0" dirty="0">
                <a:solidFill>
                  <a:srgbClr val="1E293B"/>
                </a:solidFill>
              </a:rPr>
              <a:t> </a:t>
            </a:r>
            <a:r>
              <a:rPr sz="1500" b="0" i="0" dirty="0" smtClean="0">
                <a:solidFill>
                  <a:srgbClr val="1E293B"/>
                </a:solidFill>
              </a:rPr>
              <a:t>se</a:t>
            </a:r>
            <a:r>
              <a:rPr lang="es-419" sz="1500" dirty="0" smtClean="0">
                <a:solidFill>
                  <a:srgbClr val="1E293B"/>
                </a:solidFill>
              </a:rPr>
              <a:t>ñ</a:t>
            </a:r>
            <a:r>
              <a:rPr sz="1500" b="0" i="0" dirty="0" smtClean="0">
                <a:solidFill>
                  <a:srgbClr val="1E293B"/>
                </a:solidFill>
              </a:rPr>
              <a:t>al </a:t>
            </a:r>
            <a:r>
              <a:rPr sz="1500" b="0" i="0" dirty="0" err="1">
                <a:solidFill>
                  <a:srgbClr val="1E293B"/>
                </a:solidFill>
              </a:rPr>
              <a:t>ciudadana</a:t>
            </a:r>
            <a:r>
              <a:rPr sz="1500" b="0" i="0" dirty="0">
                <a:solidFill>
                  <a:srgbClr val="1E293B"/>
                </a:solidFill>
              </a:rPr>
              <a:t> </a:t>
            </a:r>
            <a:r>
              <a:rPr sz="1500" b="0" i="0" dirty="0" err="1">
                <a:solidFill>
                  <a:srgbClr val="1E293B"/>
                </a:solidFill>
              </a:rPr>
              <a:t>integrada</a:t>
            </a:r>
            <a:r>
              <a:rPr sz="1500" b="0" i="0" dirty="0">
                <a:solidFill>
                  <a:srgbClr val="1E293B"/>
                </a:solidFill>
              </a:rPr>
              <a:t> con </a:t>
            </a:r>
            <a:r>
              <a:rPr sz="1500" b="0" i="0" dirty="0" err="1">
                <a:solidFill>
                  <a:srgbClr val="1E293B"/>
                </a:solidFill>
              </a:rPr>
              <a:t>los</a:t>
            </a:r>
            <a:r>
              <a:rPr sz="1500" b="0" i="0" dirty="0">
                <a:solidFill>
                  <a:srgbClr val="1E293B"/>
                </a:solidFill>
              </a:rPr>
              <a:t> </a:t>
            </a:r>
            <a:r>
              <a:rPr sz="1500" b="0" i="0" dirty="0" err="1">
                <a:solidFill>
                  <a:srgbClr val="1E293B"/>
                </a:solidFill>
              </a:rPr>
              <a:t>datos</a:t>
            </a:r>
            <a:r>
              <a:rPr sz="1500" b="0" i="0" dirty="0">
                <a:solidFill>
                  <a:srgbClr val="1E293B"/>
                </a:solidFill>
              </a:rPr>
              <a:t> </a:t>
            </a:r>
            <a:r>
              <a:rPr sz="1500" b="0" i="0" dirty="0" err="1">
                <a:solidFill>
                  <a:srgbClr val="1E293B"/>
                </a:solidFill>
              </a:rPr>
              <a:t>regulatorios</a:t>
            </a:r>
            <a:endParaRPr sz="1500" b="0" i="0" dirty="0">
              <a:solidFill>
                <a:srgbClr val="1E293B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</a:rPr>
              <a:t>OpenFarma  |  Datos al Ecosistema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0D2B55"/>
                </a:solidFill>
              </a:rPr>
              <a:t>Los </a:t>
            </a:r>
            <a:r>
              <a:rPr sz="2700" b="1" i="0" dirty="0" err="1">
                <a:solidFill>
                  <a:srgbClr val="0D2B55"/>
                </a:solidFill>
              </a:rPr>
              <a:t>Datos</a:t>
            </a:r>
            <a:r>
              <a:rPr sz="2700" b="1" i="0" dirty="0">
                <a:solidFill>
                  <a:srgbClr val="0D2B55"/>
                </a:solidFill>
              </a:rPr>
              <a:t>: Fuentes </a:t>
            </a:r>
            <a:r>
              <a:rPr lang="es-419" sz="2700" b="1" dirty="0" err="1" smtClean="0">
                <a:solidFill>
                  <a:srgbClr val="0D2B55"/>
                </a:solidFill>
              </a:rPr>
              <a:t>Pú</a:t>
            </a:r>
            <a:r>
              <a:rPr sz="2700" b="1" i="0" dirty="0" err="1" smtClean="0">
                <a:solidFill>
                  <a:srgbClr val="0D2B55"/>
                </a:solidFill>
              </a:rPr>
              <a:t>blicas</a:t>
            </a:r>
            <a:r>
              <a:rPr sz="2700" b="1" i="0" dirty="0" smtClean="0">
                <a:solidFill>
                  <a:srgbClr val="0D2B55"/>
                </a:solidFill>
              </a:rPr>
              <a:t> </a:t>
            </a:r>
            <a:r>
              <a:rPr sz="2700" b="1" i="0" dirty="0" err="1">
                <a:solidFill>
                  <a:srgbClr val="0D2B55"/>
                </a:solidFill>
              </a:rPr>
              <a:t>Integradas</a:t>
            </a:r>
            <a:r>
              <a:rPr sz="2700" b="1" i="0" dirty="0">
                <a:solidFill>
                  <a:srgbClr val="0D2B55"/>
                </a:solidFill>
              </a:rPr>
              <a:t> </a:t>
            </a:r>
            <a:r>
              <a:rPr sz="2700" b="1" i="0" dirty="0" err="1">
                <a:solidFill>
                  <a:srgbClr val="0D2B55"/>
                </a:solidFill>
              </a:rPr>
              <a:t>por</a:t>
            </a:r>
            <a:r>
              <a:rPr sz="2700" b="1" i="0" dirty="0">
                <a:solidFill>
                  <a:srgbClr val="0D2B55"/>
                </a:solidFill>
              </a:rPr>
              <a:t> </a:t>
            </a:r>
            <a:r>
              <a:rPr sz="2700" b="1" i="0" dirty="0" err="1">
                <a:solidFill>
                  <a:srgbClr val="0D2B55"/>
                </a:solidFill>
              </a:rPr>
              <a:t>Primera</a:t>
            </a:r>
            <a:r>
              <a:rPr sz="2700" b="1" i="0" dirty="0">
                <a:solidFill>
                  <a:srgbClr val="0D2B55"/>
                </a:solidFill>
              </a:rPr>
              <a:t> </a:t>
            </a:r>
            <a:r>
              <a:rPr sz="2700" b="1" i="0" dirty="0" err="1">
                <a:solidFill>
                  <a:srgbClr val="0D2B55"/>
                </a:solidFill>
              </a:rPr>
              <a:t>Vez</a:t>
            </a:r>
            <a:endParaRPr sz="2700" b="1" i="0" dirty="0">
              <a:solidFill>
                <a:srgbClr val="0D2B55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14400"/>
            <a:ext cx="2560320" cy="50292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164592"/>
            <a:ext cx="822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008765"/>
                </a:solidFill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5394960" cy="237744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097280"/>
            <a:ext cx="5394960" cy="64008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568C"/>
                </a:solidFill>
              </a:rPr>
              <a:t>CUM Activos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D2B55"/>
                </a:solidFill>
              </a:rPr>
              <a:t>52,830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B6E"/>
                </a:solidFill>
              </a:rPr>
              <a:t>presentaciones normalizadas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datos.gov.co · i7cb-raxc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097280"/>
            <a:ext cx="5394960" cy="237744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097280"/>
            <a:ext cx="5394960" cy="64008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46520" y="1234440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1A568C"/>
                </a:solidFill>
              </a:rPr>
              <a:t>CUM </a:t>
            </a:r>
            <a:r>
              <a:rPr sz="1300" b="1" i="0" dirty="0" err="1" smtClean="0">
                <a:solidFill>
                  <a:srgbClr val="1A568C"/>
                </a:solidFill>
              </a:rPr>
              <a:t>Renovaci</a:t>
            </a:r>
            <a:r>
              <a:rPr lang="es-419" sz="1300" b="1" dirty="0" err="1">
                <a:solidFill>
                  <a:srgbClr val="1A568C"/>
                </a:solidFill>
              </a:rPr>
              <a:t>ó</a:t>
            </a:r>
            <a:r>
              <a:rPr sz="1300" b="1" i="0" dirty="0" smtClean="0">
                <a:solidFill>
                  <a:srgbClr val="1A568C"/>
                </a:solidFill>
              </a:rPr>
              <a:t>n</a:t>
            </a:r>
            <a:endParaRPr sz="1300" b="1" i="0" dirty="0">
              <a:solidFill>
                <a:srgbClr val="1A568C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46520" y="1600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D2B55"/>
                </a:solidFill>
              </a:rPr>
              <a:t>~8,000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40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4A5B6E"/>
                </a:solidFill>
              </a:rPr>
              <a:t>registros</a:t>
            </a:r>
            <a:r>
              <a:rPr sz="1100" b="0" i="0" dirty="0">
                <a:solidFill>
                  <a:srgbClr val="4A5B6E"/>
                </a:solidFill>
              </a:rPr>
              <a:t> </a:t>
            </a:r>
            <a:r>
              <a:rPr sz="1100" b="0" i="0" dirty="0" err="1">
                <a:solidFill>
                  <a:srgbClr val="4A5B6E"/>
                </a:solidFill>
              </a:rPr>
              <a:t>en</a:t>
            </a:r>
            <a:r>
              <a:rPr sz="1100" b="0" i="0" dirty="0">
                <a:solidFill>
                  <a:srgbClr val="4A5B6E"/>
                </a:solidFill>
              </a:rPr>
              <a:t> </a:t>
            </a:r>
            <a:r>
              <a:rPr sz="1100" b="0" i="0" dirty="0" err="1" smtClean="0">
                <a:solidFill>
                  <a:srgbClr val="4A5B6E"/>
                </a:solidFill>
              </a:rPr>
              <a:t>tr</a:t>
            </a:r>
            <a:r>
              <a:rPr lang="es-419" sz="1100" b="0" i="0" dirty="0" smtClean="0">
                <a:solidFill>
                  <a:srgbClr val="4A5B6E"/>
                </a:solidFill>
              </a:rPr>
              <a:t>á</a:t>
            </a:r>
            <a:r>
              <a:rPr sz="1100" b="0" i="0" dirty="0" smtClean="0">
                <a:solidFill>
                  <a:srgbClr val="4A5B6E"/>
                </a:solidFill>
              </a:rPr>
              <a:t>mite</a:t>
            </a:r>
            <a:endParaRPr sz="1100" b="0" i="0" dirty="0">
              <a:solidFill>
                <a:srgbClr val="4A5B6E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46520" y="2743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datos.gov.co · vgr4-gemg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5394960" cy="2377440"/>
          </a:xfrm>
          <a:prstGeom prst="rect">
            <a:avLst/>
          </a:prstGeom>
          <a:solidFill>
            <a:srgbClr val="EDFBF4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5394960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840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765"/>
                </a:solidFill>
              </a:rPr>
              <a:t>Alertas INVIMA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062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D2B55"/>
                </a:solidFill>
              </a:rPr>
              <a:t>9,795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983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B6E"/>
                </a:solidFill>
              </a:rPr>
              <a:t>entradas limpias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PDFs portal INVIMA · 17 meses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703320"/>
            <a:ext cx="5394960" cy="2377440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63640" y="3703320"/>
            <a:ext cx="5394960" cy="64008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38404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2020"/>
                </a:solidFill>
              </a:rPr>
              <a:t>Reportes ciudadanos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2062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D2B55"/>
                </a:solidFill>
              </a:rPr>
              <a:t>activo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983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B6E"/>
                </a:solidFill>
              </a:rPr>
              <a:t>canal propio en crecimiento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5349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Formulario OpenFarma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309360"/>
            <a:ext cx="11155680" cy="411480"/>
          </a:xfrm>
          <a:prstGeom prst="rect">
            <a:avLst/>
          </a:prstGeom>
          <a:solidFill>
            <a:srgbClr val="EDFBF4"/>
          </a:solidFill>
          <a:ln w="12700">
            <a:solidFill>
              <a:srgbClr val="008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635508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765"/>
                </a:solidFill>
              </a:rPr>
              <a:t>✓  Primera integracion publica completa CUM + INVIMA + Reportes Ciudadanos en Colombia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0D2B55"/>
                </a:solidFill>
              </a:rPr>
              <a:t>Arquitectura: Tres Componentes Integrados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14400"/>
            <a:ext cx="2560320" cy="5029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164592"/>
            <a:ext cx="822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1A568C"/>
                </a:solidFill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2103120" cy="5394960"/>
          </a:xfrm>
          <a:prstGeom prst="rect">
            <a:avLst/>
          </a:prstGeom>
          <a:solidFill>
            <a:srgbClr val="EDFBF4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051560"/>
            <a:ext cx="2103120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1143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8765"/>
                </a:solidFill>
              </a:rPr>
              <a:t>CIUDADANO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Busca medicamento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Ve alternativas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4612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Consulta riesgo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023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Reporta escasez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1051560"/>
            <a:ext cx="2103120" cy="539496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514600" y="1051560"/>
            <a:ext cx="2103120" cy="64008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514600" y="1143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568C"/>
                </a:solidFill>
              </a:rPr>
              <a:t>REACT 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69164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React 19 + 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468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Tailwind CSS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24612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Recharts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023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ARIA a11y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1051560"/>
            <a:ext cx="2103120" cy="5394960"/>
          </a:xfrm>
          <a:prstGeom prst="rect">
            <a:avLst/>
          </a:prstGeom>
          <a:solidFill>
            <a:srgbClr val="FFF7ED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754880" y="1051560"/>
            <a:ext cx="2103120" cy="64008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0" y="1143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B45A00"/>
                </a:solidFill>
              </a:rPr>
              <a:t>FASTAPI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169164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smtClean="0">
                <a:solidFill>
                  <a:srgbClr val="1E293B"/>
                </a:solidFill>
              </a:rPr>
              <a:t>B</a:t>
            </a:r>
            <a:r>
              <a:rPr lang="es-419" sz="1100" b="0" i="0" dirty="0" err="1" smtClean="0">
                <a:solidFill>
                  <a:srgbClr val="1E293B"/>
                </a:solidFill>
              </a:rPr>
              <a:t>ús</a:t>
            </a:r>
            <a:r>
              <a:rPr sz="1100" b="0" i="0" dirty="0" err="1" smtClean="0">
                <a:solidFill>
                  <a:srgbClr val="1E293B"/>
                </a:solidFill>
              </a:rPr>
              <a:t>queda</a:t>
            </a:r>
            <a:r>
              <a:rPr sz="1100" b="0" i="0" dirty="0" smtClean="0">
                <a:solidFill>
                  <a:srgbClr val="1E293B"/>
                </a:solidFill>
              </a:rPr>
              <a:t> </a:t>
            </a:r>
            <a:r>
              <a:rPr sz="1100" b="0" i="0" dirty="0">
                <a:solidFill>
                  <a:srgbClr val="1E293B"/>
                </a:solidFill>
              </a:rPr>
              <a:t>CUM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468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Alternativas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24612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err="1">
                <a:solidFill>
                  <a:srgbClr val="1E293B"/>
                </a:solidFill>
              </a:rPr>
              <a:t>Predicciones</a:t>
            </a:r>
            <a:r>
              <a:rPr sz="1100" b="0" i="0" dirty="0">
                <a:solidFill>
                  <a:srgbClr val="1E293B"/>
                </a:solidFill>
              </a:rPr>
              <a:t>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023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Reportes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800600"/>
            <a:ext cx="19202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err="1" smtClean="0">
                <a:solidFill>
                  <a:srgbClr val="1E293B"/>
                </a:solidFill>
              </a:rPr>
              <a:t>Cach</a:t>
            </a:r>
            <a:r>
              <a:rPr lang="es-419" sz="1100" b="0" i="0" dirty="0" smtClean="0">
                <a:solidFill>
                  <a:srgbClr val="1E293B"/>
                </a:solidFill>
              </a:rPr>
              <a:t>é</a:t>
            </a:r>
            <a:r>
              <a:rPr sz="1100" b="0" i="0" dirty="0" smtClean="0">
                <a:solidFill>
                  <a:srgbClr val="1E293B"/>
                </a:solidFill>
              </a:rPr>
              <a:t> </a:t>
            </a:r>
            <a:r>
              <a:rPr sz="1100" b="0" i="0" dirty="0">
                <a:solidFill>
                  <a:srgbClr val="1E293B"/>
                </a:solidFill>
              </a:rPr>
              <a:t>INVIMA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95160" y="1051560"/>
            <a:ext cx="2103120" cy="5394960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995160" y="1051560"/>
            <a:ext cx="2103120" cy="64008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95160" y="1143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82020"/>
                </a:solidFill>
              </a:rPr>
              <a:t>DATOS + ML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169164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1E293B"/>
                </a:solidFill>
              </a:rPr>
              <a:t>SQLite 52K CUM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246888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3,204 grupos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324612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INVIMA 17m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40233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RF + Calibrado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48006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93B"/>
                </a:solidFill>
              </a:rPr>
              <a:t>Bias Tests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1051560"/>
            <a:ext cx="1463040" cy="5394960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235440" y="1051560"/>
            <a:ext cx="1463040" cy="64008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35440" y="1143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82020"/>
                </a:solidFill>
              </a:rPr>
              <a:t>ALERTA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1691640"/>
            <a:ext cx="12801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smtClean="0">
                <a:solidFill>
                  <a:srgbClr val="1E293B"/>
                </a:solidFill>
              </a:rPr>
              <a:t>Se</a:t>
            </a:r>
            <a:r>
              <a:rPr lang="es-419" sz="1100" dirty="0" smtClean="0">
                <a:solidFill>
                  <a:srgbClr val="1E293B"/>
                </a:solidFill>
              </a:rPr>
              <a:t>ñ</a:t>
            </a:r>
            <a:r>
              <a:rPr sz="1100" b="0" i="0" dirty="0" smtClean="0">
                <a:solidFill>
                  <a:srgbClr val="1E293B"/>
                </a:solidFill>
              </a:rPr>
              <a:t>ales</a:t>
            </a:r>
            <a:r>
              <a:rPr sz="1100" b="0" i="0" dirty="0">
                <a:solidFill>
                  <a:srgbClr val="1E293B"/>
                </a:solidFill>
              </a:rPr>
              <a:t>
</a:t>
            </a:r>
            <a:r>
              <a:rPr sz="1100" b="0" i="0" dirty="0" err="1">
                <a:solidFill>
                  <a:srgbClr val="1E293B"/>
                </a:solidFill>
              </a:rPr>
              <a:t>tempranas</a:t>
            </a:r>
            <a:endParaRPr sz="1100" b="0" i="0" dirty="0">
              <a:solidFill>
                <a:srgbClr val="1E293B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326880" y="2468880"/>
            <a:ext cx="12801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1E293B"/>
                </a:solidFill>
              </a:rPr>
              <a:t>30 </a:t>
            </a:r>
            <a:r>
              <a:rPr sz="1100" b="0" i="0" dirty="0" smtClean="0">
                <a:solidFill>
                  <a:srgbClr val="1E293B"/>
                </a:solidFill>
              </a:rPr>
              <a:t>d</a:t>
            </a:r>
            <a:r>
              <a:rPr lang="es-419" sz="1100" b="0" i="0" dirty="0" smtClean="0">
                <a:solidFill>
                  <a:srgbClr val="1E293B"/>
                </a:solidFill>
              </a:rPr>
              <a:t>í</a:t>
            </a:r>
            <a:r>
              <a:rPr sz="1100" b="0" i="0" dirty="0" smtClean="0">
                <a:solidFill>
                  <a:srgbClr val="1E293B"/>
                </a:solidFill>
              </a:rPr>
              <a:t>as</a:t>
            </a:r>
            <a:r>
              <a:rPr sz="1100" b="0" i="0" dirty="0">
                <a:solidFill>
                  <a:srgbClr val="1E293B"/>
                </a:solidFill>
              </a:rPr>
              <a:t>
antes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Deploy: Railway · Auto-deploy desde GitHub main · nixpacks.toml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</a:rPr>
              <a:t>OpenFarma  |  Datos al Ecosistema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0D2B55"/>
                </a:solidFill>
              </a:rPr>
              <a:t>Pipeline ETL: </a:t>
            </a:r>
            <a:r>
              <a:rPr sz="2700" b="1" i="0" dirty="0" err="1">
                <a:solidFill>
                  <a:srgbClr val="0D2B55"/>
                </a:solidFill>
              </a:rPr>
              <a:t>Calidad</a:t>
            </a:r>
            <a:r>
              <a:rPr sz="2700" b="1" i="0" dirty="0">
                <a:solidFill>
                  <a:srgbClr val="0D2B55"/>
                </a:solidFill>
              </a:rPr>
              <a:t> </a:t>
            </a:r>
            <a:r>
              <a:rPr sz="2700" b="1" i="0" dirty="0" err="1" smtClean="0">
                <a:solidFill>
                  <a:srgbClr val="0D2B55"/>
                </a:solidFill>
              </a:rPr>
              <a:t>Farmac</a:t>
            </a:r>
            <a:r>
              <a:rPr lang="es-419" sz="2700" b="1" i="0" dirty="0" smtClean="0">
                <a:solidFill>
                  <a:srgbClr val="0D2B55"/>
                </a:solidFill>
              </a:rPr>
              <a:t>é</a:t>
            </a:r>
            <a:r>
              <a:rPr sz="2700" b="1" i="0" dirty="0" err="1" smtClean="0">
                <a:solidFill>
                  <a:srgbClr val="0D2B55"/>
                </a:solidFill>
              </a:rPr>
              <a:t>utica</a:t>
            </a:r>
            <a:r>
              <a:rPr sz="2700" b="1" i="0" dirty="0" smtClean="0">
                <a:solidFill>
                  <a:srgbClr val="0D2B55"/>
                </a:solidFill>
              </a:rPr>
              <a:t> </a:t>
            </a:r>
            <a:r>
              <a:rPr sz="2700" b="1" i="0" dirty="0">
                <a:solidFill>
                  <a:srgbClr val="0D2B55"/>
                </a:solidFill>
              </a:rPr>
              <a:t>de Alta </a:t>
            </a:r>
            <a:r>
              <a:rPr sz="2700" b="1" i="0" dirty="0" err="1" smtClean="0">
                <a:solidFill>
                  <a:srgbClr val="0D2B55"/>
                </a:solidFill>
              </a:rPr>
              <a:t>Precisi</a:t>
            </a:r>
            <a:r>
              <a:rPr lang="es-419" sz="2700" b="1" i="0" dirty="0" err="1" smtClean="0">
                <a:solidFill>
                  <a:srgbClr val="0D2B55"/>
                </a:solidFill>
              </a:rPr>
              <a:t>ó</a:t>
            </a:r>
            <a:r>
              <a:rPr sz="2700" b="1" i="0" dirty="0" smtClean="0">
                <a:solidFill>
                  <a:srgbClr val="0D2B55"/>
                </a:solidFill>
              </a:rPr>
              <a:t>n</a:t>
            </a:r>
            <a:endParaRPr sz="2700" b="1" i="0" dirty="0">
              <a:solidFill>
                <a:srgbClr val="0D2B55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14400"/>
            <a:ext cx="2560320" cy="50292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164592"/>
            <a:ext cx="822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008765"/>
                </a:solidFill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765"/>
                </a:solidFill>
              </a:rPr>
              <a:t>52,830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207008"/>
            <a:ext cx="9418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</a:rPr>
              <a:t>medicamentos</a:t>
            </a:r>
            <a:r>
              <a:rPr sz="1400" b="0" i="0" dirty="0">
                <a:solidFill>
                  <a:srgbClr val="1E293B"/>
                </a:solidFill>
              </a:rPr>
              <a:t> del CUM </a:t>
            </a:r>
            <a:r>
              <a:rPr sz="1400" b="0" i="0" dirty="0" err="1">
                <a:solidFill>
                  <a:srgbClr val="1E293B"/>
                </a:solidFill>
              </a:rPr>
              <a:t>descargados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smtClean="0">
                <a:solidFill>
                  <a:srgbClr val="1E293B"/>
                </a:solidFill>
              </a:rPr>
              <a:t>v</a:t>
            </a:r>
            <a:r>
              <a:rPr lang="es-419" sz="1400" b="0" i="0" dirty="0" smtClean="0">
                <a:solidFill>
                  <a:srgbClr val="1E293B"/>
                </a:solidFill>
              </a:rPr>
              <a:t>í</a:t>
            </a:r>
            <a:r>
              <a:rPr sz="1400" b="0" i="0" dirty="0" smtClean="0">
                <a:solidFill>
                  <a:srgbClr val="1E293B"/>
                </a:solidFill>
              </a:rPr>
              <a:t>a </a:t>
            </a:r>
            <a:r>
              <a:rPr sz="1400" b="0" i="0" dirty="0" err="1">
                <a:solidFill>
                  <a:srgbClr val="1E293B"/>
                </a:solidFill>
              </a:rPr>
              <a:t>Socrata</a:t>
            </a:r>
            <a:r>
              <a:rPr sz="1400" b="0" i="0" dirty="0">
                <a:solidFill>
                  <a:srgbClr val="1E293B"/>
                </a:solidFill>
              </a:rPr>
              <a:t> API (datos.gov.co)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09928"/>
            <a:ext cx="11155680" cy="548640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7556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765"/>
                </a:solidFill>
              </a:rPr>
              <a:t>420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819656"/>
            <a:ext cx="9418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</a:rPr>
              <a:t>reglas</a:t>
            </a:r>
            <a:r>
              <a:rPr sz="1400" b="0" i="0" dirty="0">
                <a:solidFill>
                  <a:srgbClr val="1E293B"/>
                </a:solidFill>
              </a:rPr>
              <a:t> de </a:t>
            </a:r>
            <a:r>
              <a:rPr sz="1400" b="0" i="0" dirty="0" err="1">
                <a:solidFill>
                  <a:srgbClr val="1E293B"/>
                </a:solidFill>
              </a:rPr>
              <a:t>sinonimia</a:t>
            </a:r>
            <a:r>
              <a:rPr sz="1400" b="0" i="0" dirty="0">
                <a:solidFill>
                  <a:srgbClr val="1E293B"/>
                </a:solidFill>
              </a:rPr>
              <a:t> INN + 50 </a:t>
            </a:r>
            <a:r>
              <a:rPr sz="1400" b="0" i="0" dirty="0" err="1">
                <a:solidFill>
                  <a:srgbClr val="1E293B"/>
                </a:solidFill>
              </a:rPr>
              <a:t>patrones</a:t>
            </a:r>
            <a:r>
              <a:rPr sz="1400" b="0" i="0" dirty="0">
                <a:solidFill>
                  <a:srgbClr val="1E293B"/>
                </a:solidFill>
              </a:rPr>
              <a:t> de </a:t>
            </a:r>
            <a:r>
              <a:rPr sz="1400" b="0" i="0" dirty="0" err="1">
                <a:solidFill>
                  <a:srgbClr val="1E293B"/>
                </a:solidFill>
              </a:rPr>
              <a:t>sal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 smtClean="0">
                <a:solidFill>
                  <a:srgbClr val="1E293B"/>
                </a:solidFill>
              </a:rPr>
              <a:t>farmac</a:t>
            </a:r>
            <a:r>
              <a:rPr lang="es-419" sz="1400" b="0" i="0" dirty="0" smtClean="0">
                <a:solidFill>
                  <a:srgbClr val="1E293B"/>
                </a:solidFill>
              </a:rPr>
              <a:t>é</a:t>
            </a:r>
            <a:r>
              <a:rPr sz="1400" b="0" i="0" dirty="0" err="1" smtClean="0">
                <a:solidFill>
                  <a:srgbClr val="1E293B"/>
                </a:solidFill>
              </a:rPr>
              <a:t>utica</a:t>
            </a:r>
            <a:endParaRPr sz="1400" b="0" i="0" dirty="0">
              <a:solidFill>
                <a:srgbClr val="1E293B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2322576"/>
            <a:ext cx="11155680" cy="548640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36829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765"/>
                </a:solidFill>
              </a:rPr>
              <a:t>3,204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432304"/>
            <a:ext cx="9418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</a:rPr>
              <a:t>grupos</a:t>
            </a:r>
            <a:r>
              <a:rPr sz="1400" b="0" i="0" dirty="0">
                <a:solidFill>
                  <a:srgbClr val="1E293B"/>
                </a:solidFill>
              </a:rPr>
              <a:t> de </a:t>
            </a:r>
            <a:r>
              <a:rPr sz="1400" b="0" i="0" dirty="0" err="1">
                <a:solidFill>
                  <a:srgbClr val="1E293B"/>
                </a:solidFill>
              </a:rPr>
              <a:t>equivalencia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 smtClean="0">
                <a:solidFill>
                  <a:srgbClr val="1E293B"/>
                </a:solidFill>
              </a:rPr>
              <a:t>terap</a:t>
            </a:r>
            <a:r>
              <a:rPr lang="es-419" sz="1400" b="0" i="0" dirty="0" smtClean="0">
                <a:solidFill>
                  <a:srgbClr val="1E293B"/>
                </a:solidFill>
              </a:rPr>
              <a:t>é</a:t>
            </a:r>
            <a:r>
              <a:rPr sz="1400" b="0" i="0" dirty="0" err="1" smtClean="0">
                <a:solidFill>
                  <a:srgbClr val="1E293B"/>
                </a:solidFill>
              </a:rPr>
              <a:t>utica</a:t>
            </a:r>
            <a:r>
              <a:rPr sz="1400" b="0" i="0" dirty="0" smtClean="0">
                <a:solidFill>
                  <a:srgbClr val="1E293B"/>
                </a:solidFill>
              </a:rPr>
              <a:t> </a:t>
            </a:r>
            <a:r>
              <a:rPr sz="1400" b="0" i="0" dirty="0">
                <a:solidFill>
                  <a:srgbClr val="1E293B"/>
                </a:solidFill>
              </a:rPr>
              <a:t>— </a:t>
            </a:r>
            <a:r>
              <a:rPr sz="1400" b="0" i="0" dirty="0" err="1">
                <a:solidFill>
                  <a:srgbClr val="1E293B"/>
                </a:solidFill>
              </a:rPr>
              <a:t>DeepSeek</a:t>
            </a:r>
            <a:r>
              <a:rPr sz="1400" b="0" i="0" dirty="0">
                <a:solidFill>
                  <a:srgbClr val="1E293B"/>
                </a:solidFill>
              </a:rPr>
              <a:t> + </a:t>
            </a:r>
            <a:r>
              <a:rPr sz="1400" b="0" i="0" dirty="0" err="1">
                <a:solidFill>
                  <a:srgbClr val="1E293B"/>
                </a:solidFill>
              </a:rPr>
              <a:t>reglas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>
                <a:solidFill>
                  <a:srgbClr val="1E293B"/>
                </a:solidFill>
              </a:rPr>
              <a:t>manuales</a:t>
            </a:r>
            <a:endParaRPr sz="1400" b="0" i="0" dirty="0">
              <a:solidFill>
                <a:srgbClr val="1E293B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02920" y="2935224"/>
            <a:ext cx="11155680" cy="548640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9809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765"/>
                </a:solidFill>
              </a:rPr>
              <a:t>105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044952"/>
            <a:ext cx="9418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</a:rPr>
              <a:t>rondas</a:t>
            </a:r>
            <a:r>
              <a:rPr sz="1400" b="0" i="0" dirty="0">
                <a:solidFill>
                  <a:srgbClr val="1E293B"/>
                </a:solidFill>
              </a:rPr>
              <a:t> de </a:t>
            </a:r>
            <a:r>
              <a:rPr sz="1400" b="0" i="0" dirty="0" smtClean="0">
                <a:solidFill>
                  <a:srgbClr val="1E293B"/>
                </a:solidFill>
              </a:rPr>
              <a:t>auditor</a:t>
            </a:r>
            <a:r>
              <a:rPr lang="es-419" sz="1400" b="0" i="0" dirty="0" smtClean="0">
                <a:solidFill>
                  <a:srgbClr val="1E293B"/>
                </a:solidFill>
              </a:rPr>
              <a:t>í</a:t>
            </a:r>
            <a:r>
              <a:rPr sz="1400" b="0" i="0" dirty="0" smtClean="0">
                <a:solidFill>
                  <a:srgbClr val="1E293B"/>
                </a:solidFill>
              </a:rPr>
              <a:t>a </a:t>
            </a:r>
            <a:r>
              <a:rPr sz="1400" b="0" i="0" dirty="0">
                <a:solidFill>
                  <a:srgbClr val="1E293B"/>
                </a:solidFill>
              </a:rPr>
              <a:t>INN: </a:t>
            </a:r>
            <a:r>
              <a:rPr sz="1400" b="0" i="0" dirty="0" err="1" smtClean="0">
                <a:solidFill>
                  <a:srgbClr val="1E293B"/>
                </a:solidFill>
              </a:rPr>
              <a:t>radiof</a:t>
            </a:r>
            <a:r>
              <a:rPr lang="es-419" sz="1400" b="0" i="0" dirty="0" smtClean="0">
                <a:solidFill>
                  <a:srgbClr val="1E293B"/>
                </a:solidFill>
              </a:rPr>
              <a:t>á</a:t>
            </a:r>
            <a:r>
              <a:rPr sz="1400" b="0" i="0" dirty="0" err="1" smtClean="0">
                <a:solidFill>
                  <a:srgbClr val="1E293B"/>
                </a:solidFill>
              </a:rPr>
              <a:t>rmacos</a:t>
            </a:r>
            <a:r>
              <a:rPr sz="1400" b="0" i="0" dirty="0">
                <a:solidFill>
                  <a:srgbClr val="1E293B"/>
                </a:solidFill>
              </a:rPr>
              <a:t>, </a:t>
            </a:r>
            <a:r>
              <a:rPr sz="1400" b="0" i="0" dirty="0" err="1">
                <a:solidFill>
                  <a:srgbClr val="1E293B"/>
                </a:solidFill>
              </a:rPr>
              <a:t>vacunas</a:t>
            </a:r>
            <a:r>
              <a:rPr sz="1400" b="0" i="0" dirty="0">
                <a:solidFill>
                  <a:srgbClr val="1E293B"/>
                </a:solidFill>
              </a:rPr>
              <a:t>, </a:t>
            </a:r>
            <a:r>
              <a:rPr sz="1400" b="0" i="0" dirty="0" err="1" smtClean="0">
                <a:solidFill>
                  <a:srgbClr val="1E293B"/>
                </a:solidFill>
              </a:rPr>
              <a:t>biol</a:t>
            </a:r>
            <a:r>
              <a:rPr lang="es-419" sz="1400" b="0" i="0" dirty="0" err="1" smtClean="0">
                <a:solidFill>
                  <a:srgbClr val="1E293B"/>
                </a:solidFill>
              </a:rPr>
              <a:t>ó</a:t>
            </a:r>
            <a:r>
              <a:rPr sz="1400" b="0" i="0" dirty="0" err="1" smtClean="0">
                <a:solidFill>
                  <a:srgbClr val="1E293B"/>
                </a:solidFill>
              </a:rPr>
              <a:t>gicos</a:t>
            </a:r>
            <a:r>
              <a:rPr sz="1400" b="0" i="0" dirty="0">
                <a:solidFill>
                  <a:srgbClr val="1E293B"/>
                </a:solidFill>
              </a:rPr>
              <a:t>, </a:t>
            </a:r>
            <a:r>
              <a:rPr sz="1400" b="0" i="0" dirty="0" err="1">
                <a:solidFill>
                  <a:srgbClr val="1E293B"/>
                </a:solidFill>
              </a:rPr>
              <a:t>hemoderivados</a:t>
            </a:r>
            <a:endParaRPr sz="1400" b="0" i="0" dirty="0">
              <a:solidFill>
                <a:srgbClr val="1E293B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11155680" cy="548640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59359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765"/>
                </a:solidFill>
              </a:rPr>
              <a:t>9,795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576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</a:rPr>
              <a:t>alertas INVIMA parseadas de PDFs mensuales (17 meses, ene 2025–may 2026)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160520"/>
            <a:ext cx="11155680" cy="548640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206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8765"/>
                </a:solidFill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4270248"/>
            <a:ext cx="9418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</a:rPr>
              <a:t>duplicados</a:t>
            </a:r>
            <a:r>
              <a:rPr sz="1400" b="0" i="0" dirty="0">
                <a:solidFill>
                  <a:srgbClr val="1E293B"/>
                </a:solidFill>
              </a:rPr>
              <a:t> · 0 NULL </a:t>
            </a:r>
            <a:r>
              <a:rPr sz="1400" b="0" i="0" dirty="0" err="1">
                <a:solidFill>
                  <a:srgbClr val="1E293B"/>
                </a:solidFill>
              </a:rPr>
              <a:t>concentracion</a:t>
            </a:r>
            <a:r>
              <a:rPr sz="1400" b="0" i="0" dirty="0">
                <a:solidFill>
                  <a:srgbClr val="1E293B"/>
                </a:solidFill>
              </a:rPr>
              <a:t> · 0 mismatches DCI </a:t>
            </a:r>
            <a:r>
              <a:rPr sz="1400" b="0" i="0" dirty="0" err="1">
                <a:solidFill>
                  <a:srgbClr val="1E293B"/>
                </a:solidFill>
              </a:rPr>
              <a:t>tras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smtClean="0">
                <a:solidFill>
                  <a:srgbClr val="1E293B"/>
                </a:solidFill>
              </a:rPr>
              <a:t>auditor</a:t>
            </a:r>
            <a:r>
              <a:rPr lang="es-419" sz="1400" b="0" i="0" dirty="0" smtClean="0">
                <a:solidFill>
                  <a:srgbClr val="1E293B"/>
                </a:solidFill>
              </a:rPr>
              <a:t>í</a:t>
            </a:r>
            <a:r>
              <a:rPr sz="1400" b="0" i="0" dirty="0" smtClean="0">
                <a:solidFill>
                  <a:srgbClr val="1E293B"/>
                </a:solidFill>
              </a:rPr>
              <a:t>a </a:t>
            </a:r>
            <a:r>
              <a:rPr sz="1400" b="0" i="0" dirty="0" err="1">
                <a:solidFill>
                  <a:srgbClr val="1E293B"/>
                </a:solidFill>
              </a:rPr>
              <a:t>completa</a:t>
            </a:r>
            <a:endParaRPr sz="1400" b="0" i="0" dirty="0">
              <a:solidFill>
                <a:srgbClr val="1E293B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2920" y="4937760"/>
            <a:ext cx="2651760" cy="1508760"/>
          </a:xfrm>
          <a:prstGeom prst="rect">
            <a:avLst/>
          </a:prstGeom>
          <a:solidFill>
            <a:srgbClr val="EDFBF4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4937760"/>
            <a:ext cx="64008" cy="150876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" y="501091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765"/>
                </a:solidFill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6692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DCIs normalizados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7560" y="4937760"/>
            <a:ext cx="2651760" cy="150876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37560" y="4937760"/>
            <a:ext cx="64008" cy="15087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02152" y="501091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68C"/>
                </a:solidFill>
              </a:rPr>
              <a:t>105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5669280"/>
            <a:ext cx="2514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 err="1">
                <a:solidFill>
                  <a:srgbClr val="1E293B"/>
                </a:solidFill>
              </a:rPr>
              <a:t>Rondas</a:t>
            </a:r>
            <a:r>
              <a:rPr sz="1100" b="1" i="0" dirty="0">
                <a:solidFill>
                  <a:srgbClr val="1E293B"/>
                </a:solidFill>
              </a:rPr>
              <a:t> </a:t>
            </a:r>
            <a:r>
              <a:rPr sz="1100" b="1" i="0" dirty="0" smtClean="0">
                <a:solidFill>
                  <a:srgbClr val="1E293B"/>
                </a:solidFill>
              </a:rPr>
              <a:t>auditor</a:t>
            </a:r>
            <a:r>
              <a:rPr lang="es-419" sz="1100" b="1" i="0" dirty="0" smtClean="0">
                <a:solidFill>
                  <a:srgbClr val="1E293B"/>
                </a:solidFill>
              </a:rPr>
              <a:t>í</a:t>
            </a:r>
            <a:r>
              <a:rPr sz="1100" b="1" i="0" dirty="0" smtClean="0">
                <a:solidFill>
                  <a:srgbClr val="1E293B"/>
                </a:solidFill>
              </a:rPr>
              <a:t>a</a:t>
            </a:r>
            <a:endParaRPr sz="1100" b="1" i="0" dirty="0">
              <a:solidFill>
                <a:srgbClr val="1E293B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172200" y="4937760"/>
            <a:ext cx="2651760" cy="1508760"/>
          </a:xfrm>
          <a:prstGeom prst="rect">
            <a:avLst/>
          </a:prstGeom>
          <a:solidFill>
            <a:srgbClr val="EDFBF4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72200" y="4937760"/>
            <a:ext cx="64008" cy="150876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36792" y="501091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765"/>
                </a:solidFill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6692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Duplicados finales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06840" y="4937760"/>
            <a:ext cx="2651760" cy="150876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006840" y="4937760"/>
            <a:ext cx="64008" cy="150876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71432" y="501091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68C"/>
                </a:solidFill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8280" y="5669280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Meses INVIMA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</a:rPr>
              <a:t>Fallback local: si datos.gov.co no responde, los 52,830 productos siguen disponibles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 err="1">
                <a:solidFill>
                  <a:srgbClr val="0D2B55"/>
                </a:solidFill>
              </a:rPr>
              <a:t>Modelo</a:t>
            </a:r>
            <a:r>
              <a:rPr sz="2700" b="1" i="0" dirty="0">
                <a:solidFill>
                  <a:srgbClr val="0D2B55"/>
                </a:solidFill>
              </a:rPr>
              <a:t> </a:t>
            </a:r>
            <a:r>
              <a:rPr sz="2700" b="1" i="0" dirty="0" err="1">
                <a:solidFill>
                  <a:srgbClr val="0D2B55"/>
                </a:solidFill>
              </a:rPr>
              <a:t>Predictivo</a:t>
            </a:r>
            <a:r>
              <a:rPr sz="2700" b="1" i="0" dirty="0">
                <a:solidFill>
                  <a:srgbClr val="0D2B55"/>
                </a:solidFill>
              </a:rPr>
              <a:t>: </a:t>
            </a:r>
            <a:r>
              <a:rPr sz="2700" b="1" i="0" dirty="0" err="1">
                <a:solidFill>
                  <a:srgbClr val="0D2B55"/>
                </a:solidFill>
              </a:rPr>
              <a:t>Integridad</a:t>
            </a:r>
            <a:r>
              <a:rPr sz="2700" b="1" i="0" dirty="0">
                <a:solidFill>
                  <a:srgbClr val="0D2B55"/>
                </a:solidFill>
              </a:rPr>
              <a:t> </a:t>
            </a:r>
            <a:r>
              <a:rPr sz="2700" b="1" i="0" dirty="0" err="1" smtClean="0">
                <a:solidFill>
                  <a:srgbClr val="0D2B55"/>
                </a:solidFill>
              </a:rPr>
              <a:t>Estad</a:t>
            </a:r>
            <a:r>
              <a:rPr lang="es-419" sz="2700" b="1" i="0" dirty="0" smtClean="0">
                <a:solidFill>
                  <a:srgbClr val="0D2B55"/>
                </a:solidFill>
              </a:rPr>
              <a:t>í</a:t>
            </a:r>
            <a:r>
              <a:rPr sz="2700" b="1" i="0" dirty="0" err="1" smtClean="0">
                <a:solidFill>
                  <a:srgbClr val="0D2B55"/>
                </a:solidFill>
              </a:rPr>
              <a:t>stica</a:t>
            </a:r>
            <a:r>
              <a:rPr sz="2700" b="1" i="0" dirty="0" smtClean="0">
                <a:solidFill>
                  <a:srgbClr val="0D2B55"/>
                </a:solidFill>
              </a:rPr>
              <a:t> </a:t>
            </a:r>
            <a:r>
              <a:rPr sz="2700" b="1" i="0" dirty="0" err="1">
                <a:solidFill>
                  <a:srgbClr val="0D2B55"/>
                </a:solidFill>
              </a:rPr>
              <a:t>Rigurosa</a:t>
            </a:r>
            <a:endParaRPr sz="2700" b="1" i="0" dirty="0">
              <a:solidFill>
                <a:srgbClr val="0D2B55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14400"/>
            <a:ext cx="2560320" cy="50292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164592"/>
            <a:ext cx="822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C82020"/>
                </a:solidFill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2697480" cy="1554480"/>
          </a:xfrm>
          <a:prstGeom prst="rect">
            <a:avLst/>
          </a:prstGeom>
          <a:solidFill>
            <a:srgbClr val="EDFBF4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097280"/>
            <a:ext cx="64008" cy="155448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170432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8765"/>
                </a:solidFill>
              </a:rPr>
              <a:t>0.8374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ROC-AUC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split temporal honesto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97280"/>
            <a:ext cx="2697480" cy="155448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83280" y="1097280"/>
            <a:ext cx="64008" cy="155448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872" y="1170432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68C"/>
                </a:solidFill>
              </a:rPr>
              <a:t>0.1707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28800"/>
            <a:ext cx="25603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 err="1">
                <a:solidFill>
                  <a:srgbClr val="1E293B"/>
                </a:solidFill>
              </a:rPr>
              <a:t>Avg</a:t>
            </a:r>
            <a:r>
              <a:rPr sz="1100" b="1" i="0" dirty="0">
                <a:solidFill>
                  <a:srgbClr val="1E293B"/>
                </a:solidFill>
              </a:rPr>
              <a:t> </a:t>
            </a:r>
            <a:r>
              <a:rPr sz="1100" b="1" i="0" dirty="0" err="1" smtClean="0">
                <a:solidFill>
                  <a:srgbClr val="1E293B"/>
                </a:solidFill>
              </a:rPr>
              <a:t>Precisi</a:t>
            </a:r>
            <a:r>
              <a:rPr lang="es-419" sz="1100" b="1" dirty="0" err="1">
                <a:solidFill>
                  <a:srgbClr val="1E293B"/>
                </a:solidFill>
              </a:rPr>
              <a:t>ó</a:t>
            </a:r>
            <a:r>
              <a:rPr sz="1100" b="1" i="0" dirty="0" smtClean="0">
                <a:solidFill>
                  <a:srgbClr val="1E293B"/>
                </a:solidFill>
              </a:rPr>
              <a:t>n</a:t>
            </a:r>
            <a:endParaRPr sz="1100" b="1" i="0" dirty="0">
              <a:solidFill>
                <a:srgbClr val="1E293B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47472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1.6% positivos reales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097280"/>
            <a:ext cx="2697480" cy="1554480"/>
          </a:xfrm>
          <a:prstGeom prst="rect">
            <a:avLst/>
          </a:prstGeom>
          <a:solidFill>
            <a:srgbClr val="EBF4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097280"/>
            <a:ext cx="64008" cy="155448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8232" y="1170432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568C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828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Meses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mar–may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097280"/>
            <a:ext cx="2697480" cy="1554480"/>
          </a:xfrm>
          <a:prstGeom prst="rect">
            <a:avLst/>
          </a:prstGeom>
          <a:solidFill>
            <a:srgbClr val="FEF2F2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0" y="1097280"/>
            <a:ext cx="64008" cy="1554480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08592" y="1170432"/>
            <a:ext cx="2514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82020"/>
                </a:solidFill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8288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E293B"/>
                </a:solidFill>
              </a:rPr>
              <a:t>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A5B6E"/>
                </a:solidFill>
              </a:rPr>
              <a:t>10 CUM + 5 INVIMA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834640"/>
            <a:ext cx="5303520" cy="3566160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2920" y="2834640"/>
            <a:ext cx="64008" cy="356616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290779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</a:rPr>
              <a:t>Split Temporal (sin Data Leakage)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3401568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▸  Train: ene 2025 – feb 2026 (14 meses)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941064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▸  Test:  mar – may 2026 (3 meses, nunca vistos)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480560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▸  Con split aleatorio: ROC-AUC era 1.000 (data leakage)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020056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</a:rPr>
              <a:t>▸  Con split temporal: ROC-AUC 0.8374 (honesto)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559552"/>
            <a:ext cx="49377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E293B"/>
                </a:solidFill>
              </a:rPr>
              <a:t>▸  </a:t>
            </a:r>
            <a:r>
              <a:rPr sz="1200" b="0" i="0" dirty="0" err="1">
                <a:solidFill>
                  <a:srgbClr val="1E293B"/>
                </a:solidFill>
              </a:rPr>
              <a:t>Modelo</a:t>
            </a:r>
            <a:r>
              <a:rPr sz="1200" b="0" i="0" dirty="0">
                <a:solidFill>
                  <a:srgbClr val="1E293B"/>
                </a:solidFill>
              </a:rPr>
              <a:t> </a:t>
            </a:r>
            <a:r>
              <a:rPr sz="1200" b="0" i="0" dirty="0" err="1" smtClean="0">
                <a:solidFill>
                  <a:srgbClr val="1E293B"/>
                </a:solidFill>
              </a:rPr>
              <a:t>producci</a:t>
            </a:r>
            <a:r>
              <a:rPr lang="es-419" sz="1200" b="0" i="0" dirty="0" err="1" smtClean="0">
                <a:solidFill>
                  <a:srgbClr val="1E293B"/>
                </a:solidFill>
              </a:rPr>
              <a:t>ó</a:t>
            </a:r>
            <a:r>
              <a:rPr sz="1200" b="0" i="0" dirty="0" smtClean="0">
                <a:solidFill>
                  <a:srgbClr val="1E293B"/>
                </a:solidFill>
              </a:rPr>
              <a:t>n</a:t>
            </a:r>
            <a:r>
              <a:rPr sz="1200" b="0" i="0" dirty="0">
                <a:solidFill>
                  <a:srgbClr val="1E293B"/>
                </a:solidFill>
              </a:rPr>
              <a:t>: </a:t>
            </a:r>
            <a:r>
              <a:rPr sz="1200" b="0" i="0" dirty="0" err="1">
                <a:solidFill>
                  <a:srgbClr val="1E293B"/>
                </a:solidFill>
              </a:rPr>
              <a:t>reentrenado</a:t>
            </a:r>
            <a:r>
              <a:rPr sz="1200" b="0" i="0" dirty="0">
                <a:solidFill>
                  <a:srgbClr val="1E293B"/>
                </a:solidFill>
              </a:rPr>
              <a:t> </a:t>
            </a:r>
            <a:r>
              <a:rPr sz="1200" b="0" i="0" dirty="0" err="1">
                <a:solidFill>
                  <a:srgbClr val="1E293B"/>
                </a:solidFill>
              </a:rPr>
              <a:t>en</a:t>
            </a:r>
            <a:r>
              <a:rPr sz="1200" b="0" i="0" dirty="0">
                <a:solidFill>
                  <a:srgbClr val="1E293B"/>
                </a:solidFill>
              </a:rPr>
              <a:t> </a:t>
            </a:r>
            <a:r>
              <a:rPr sz="1200" b="0" i="0" dirty="0" err="1">
                <a:solidFill>
                  <a:srgbClr val="1E293B"/>
                </a:solidFill>
              </a:rPr>
              <a:t>todos</a:t>
            </a:r>
            <a:r>
              <a:rPr sz="1200" b="0" i="0" dirty="0">
                <a:solidFill>
                  <a:srgbClr val="1E293B"/>
                </a:solidFill>
              </a:rPr>
              <a:t> </a:t>
            </a:r>
            <a:r>
              <a:rPr sz="1200" b="0" i="0" dirty="0" err="1">
                <a:solidFill>
                  <a:srgbClr val="1E293B"/>
                </a:solidFill>
              </a:rPr>
              <a:t>los</a:t>
            </a:r>
            <a:r>
              <a:rPr sz="1200" b="0" i="0" dirty="0">
                <a:solidFill>
                  <a:srgbClr val="1E293B"/>
                </a:solidFill>
              </a:rPr>
              <a:t> </a:t>
            </a:r>
            <a:r>
              <a:rPr sz="1200" b="0" i="0" dirty="0" err="1">
                <a:solidFill>
                  <a:srgbClr val="1E293B"/>
                </a:solidFill>
              </a:rPr>
              <a:t>datos</a:t>
            </a:r>
            <a:endParaRPr sz="1200" b="0" i="0" dirty="0">
              <a:solidFill>
                <a:srgbClr val="1E293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035040" y="2834640"/>
            <a:ext cx="5669280" cy="3566160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035040" y="2834640"/>
            <a:ext cx="64008" cy="3566160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0" y="290779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</a:rPr>
              <a:t>Top Features por Importancia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3511296"/>
            <a:ext cx="838200" cy="274320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0" y="3401568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</a:rPr>
              <a:t>invima_sev_actual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3401568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82020"/>
                </a:solidFill>
              </a:rPr>
              <a:t>27.5%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4050792"/>
            <a:ext cx="643128" cy="274320"/>
          </a:xfrm>
          <a:prstGeom prst="rect">
            <a:avLst/>
          </a:prstGeom>
          <a:solidFill>
            <a:srgbClr val="C8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0" y="3941064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</a:rPr>
              <a:t>invima_peor_sev_hist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3941064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82020"/>
                </a:solidFill>
              </a:rPr>
              <a:t>21.1%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590288"/>
            <a:ext cx="393192" cy="27432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17920" y="4480560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</a:rPr>
              <a:t>invima_meses_monitoreado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4480560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45A00"/>
                </a:solidFill>
              </a:rPr>
              <a:t>12.9%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5129784"/>
            <a:ext cx="353568" cy="27432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17920" y="5020056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</a:rPr>
              <a:t>tasa_inactivacion_atc5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5020056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45A00"/>
                </a:solidFill>
              </a:rPr>
              <a:t>11.6%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5669280"/>
            <a:ext cx="350520" cy="27432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17920" y="5559552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</a:rPr>
              <a:t>invima_sev_t3_avg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5559552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45A00"/>
                </a:solidFill>
              </a:rPr>
              <a:t>11.5%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3796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Tipo: CalibratedClassifierCV (Platt scaling) + RandomForestClassifier · scikit-learn 1.9.0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492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</a:rPr>
              <a:t>OpenFarma  |  Datos al Ecosistema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7899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0D2B55"/>
                </a:solidFill>
              </a:rPr>
              <a:t>La </a:t>
            </a:r>
            <a:r>
              <a:rPr sz="2700" b="1" i="0" dirty="0" err="1" smtClean="0">
                <a:solidFill>
                  <a:srgbClr val="0D2B55"/>
                </a:solidFill>
              </a:rPr>
              <a:t>Aplicaci</a:t>
            </a:r>
            <a:r>
              <a:rPr lang="es-419" sz="2700" b="1" i="0" dirty="0" err="1" smtClean="0">
                <a:solidFill>
                  <a:srgbClr val="0D2B55"/>
                </a:solidFill>
              </a:rPr>
              <a:t>ó</a:t>
            </a:r>
            <a:r>
              <a:rPr sz="2700" b="1" i="0" dirty="0" smtClean="0">
                <a:solidFill>
                  <a:srgbClr val="0D2B55"/>
                </a:solidFill>
              </a:rPr>
              <a:t>n</a:t>
            </a:r>
            <a:r>
              <a:rPr sz="2700" b="1" i="0" dirty="0">
                <a:solidFill>
                  <a:srgbClr val="0D2B55"/>
                </a:solidFill>
              </a:rPr>
              <a:t>: Para </a:t>
            </a:r>
            <a:r>
              <a:rPr sz="2700" b="1" i="0" dirty="0" err="1">
                <a:solidFill>
                  <a:srgbClr val="0D2B55"/>
                </a:solidFill>
              </a:rPr>
              <a:t>Pacientes</a:t>
            </a:r>
            <a:r>
              <a:rPr sz="2700" b="1" i="0" dirty="0">
                <a:solidFill>
                  <a:srgbClr val="0D2B55"/>
                </a:solidFill>
              </a:rPr>
              <a:t>, </a:t>
            </a:r>
            <a:r>
              <a:rPr sz="2700" b="1" i="0" dirty="0" smtClean="0">
                <a:solidFill>
                  <a:srgbClr val="0D2B55"/>
                </a:solidFill>
              </a:rPr>
              <a:t>C</a:t>
            </a:r>
            <a:r>
              <a:rPr lang="es-419" sz="2700" b="1" i="0" dirty="0" err="1" smtClean="0">
                <a:solidFill>
                  <a:srgbClr val="0D2B55"/>
                </a:solidFill>
              </a:rPr>
              <a:t>lí</a:t>
            </a:r>
            <a:r>
              <a:rPr sz="2700" b="1" i="0" dirty="0" err="1" smtClean="0">
                <a:solidFill>
                  <a:srgbClr val="0D2B55"/>
                </a:solidFill>
              </a:rPr>
              <a:t>nicos</a:t>
            </a:r>
            <a:r>
              <a:rPr sz="2700" b="1" i="0" dirty="0" smtClean="0">
                <a:solidFill>
                  <a:srgbClr val="0D2B55"/>
                </a:solidFill>
              </a:rPr>
              <a:t> </a:t>
            </a:r>
            <a:r>
              <a:rPr sz="2700" b="1" i="0" dirty="0">
                <a:solidFill>
                  <a:srgbClr val="0D2B55"/>
                </a:solidFill>
              </a:rPr>
              <a:t>e INVIMA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14400"/>
            <a:ext cx="2560320" cy="50292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164592"/>
            <a:ext cx="822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1A568C"/>
                </a:solidFill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1115568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14300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568C"/>
                </a:solidFill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88720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smtClean="0">
                <a:solidFill>
                  <a:srgbClr val="1E293B"/>
                </a:solidFill>
              </a:rPr>
              <a:t>B</a:t>
            </a:r>
            <a:r>
              <a:rPr lang="es-419" sz="1400" b="0" i="0" dirty="0" smtClean="0">
                <a:solidFill>
                  <a:srgbClr val="1E293B"/>
                </a:solidFill>
              </a:rPr>
              <a:t>ú</a:t>
            </a:r>
            <a:r>
              <a:rPr sz="1400" b="0" i="0" dirty="0" err="1" smtClean="0">
                <a:solidFill>
                  <a:srgbClr val="1E293B"/>
                </a:solidFill>
              </a:rPr>
              <a:t>squeda</a:t>
            </a:r>
            <a:r>
              <a:rPr sz="1400" b="0" i="0" dirty="0" smtClean="0">
                <a:solidFill>
                  <a:srgbClr val="1E293B"/>
                </a:solidFill>
              </a:rPr>
              <a:t> </a:t>
            </a:r>
            <a:r>
              <a:rPr sz="1400" b="0" i="0" dirty="0" err="1">
                <a:solidFill>
                  <a:srgbClr val="1E293B"/>
                </a:solidFill>
              </a:rPr>
              <a:t>en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>
                <a:solidFill>
                  <a:srgbClr val="1E293B"/>
                </a:solidFill>
              </a:rPr>
              <a:t>tiempo</a:t>
            </a:r>
            <a:r>
              <a:rPr sz="1400" b="0" i="0" dirty="0">
                <a:solidFill>
                  <a:srgbClr val="1E293B"/>
                </a:solidFill>
              </a:rPr>
              <a:t> real: 52,830 </a:t>
            </a:r>
            <a:r>
              <a:rPr sz="1400" b="0" i="0" dirty="0" err="1">
                <a:solidFill>
                  <a:srgbClr val="1E293B"/>
                </a:solidFill>
              </a:rPr>
              <a:t>medicamentos</a:t>
            </a:r>
            <a:r>
              <a:rPr sz="1400" b="0" i="0" dirty="0">
                <a:solidFill>
                  <a:srgbClr val="1E293B"/>
                </a:solidFill>
              </a:rPr>
              <a:t> CUM </a:t>
            </a:r>
            <a:r>
              <a:rPr sz="1400" b="0" i="0" dirty="0" smtClean="0">
                <a:solidFill>
                  <a:srgbClr val="1E293B"/>
                </a:solidFill>
              </a:rPr>
              <a:t>v</a:t>
            </a:r>
            <a:r>
              <a:rPr lang="es-419" sz="1400" b="0" i="0" dirty="0" smtClean="0">
                <a:solidFill>
                  <a:srgbClr val="1E293B"/>
                </a:solidFill>
              </a:rPr>
              <a:t>í</a:t>
            </a:r>
            <a:r>
              <a:rPr sz="1400" b="0" i="0" dirty="0" smtClean="0">
                <a:solidFill>
                  <a:srgbClr val="1E293B"/>
                </a:solidFill>
              </a:rPr>
              <a:t>a </a:t>
            </a:r>
            <a:r>
              <a:rPr sz="1400" b="0" i="0" dirty="0" err="1">
                <a:solidFill>
                  <a:srgbClr val="1E293B"/>
                </a:solidFill>
              </a:rPr>
              <a:t>Socrata</a:t>
            </a:r>
            <a:r>
              <a:rPr sz="1400" b="0" i="0" dirty="0">
                <a:solidFill>
                  <a:srgbClr val="1E293B"/>
                </a:solidFill>
              </a:rPr>
              <a:t> API + fallback local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78308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568C"/>
                </a:solidFill>
              </a:rPr>
              <a:t>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828800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</a:rPr>
              <a:t>Alternativas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 smtClean="0">
                <a:solidFill>
                  <a:srgbClr val="1E293B"/>
                </a:solidFill>
              </a:rPr>
              <a:t>terap</a:t>
            </a:r>
            <a:r>
              <a:rPr lang="es-419" sz="1400" b="0" i="0" dirty="0" smtClean="0">
                <a:solidFill>
                  <a:srgbClr val="1E293B"/>
                </a:solidFill>
              </a:rPr>
              <a:t>é</a:t>
            </a:r>
            <a:r>
              <a:rPr sz="1400" b="0" i="0" dirty="0" err="1" smtClean="0">
                <a:solidFill>
                  <a:srgbClr val="1E293B"/>
                </a:solidFill>
              </a:rPr>
              <a:t>uticas</a:t>
            </a:r>
            <a:r>
              <a:rPr sz="1400" b="0" i="0" dirty="0" smtClean="0">
                <a:solidFill>
                  <a:srgbClr val="1E293B"/>
                </a:solidFill>
              </a:rPr>
              <a:t> </a:t>
            </a:r>
            <a:r>
              <a:rPr sz="1400" b="0" i="0" dirty="0" err="1">
                <a:solidFill>
                  <a:srgbClr val="1E293B"/>
                </a:solidFill>
              </a:rPr>
              <a:t>en</a:t>
            </a:r>
            <a:r>
              <a:rPr sz="1400" b="0" i="0" dirty="0">
                <a:solidFill>
                  <a:srgbClr val="1E293B"/>
                </a:solidFill>
              </a:rPr>
              <a:t> 8 </a:t>
            </a:r>
            <a:r>
              <a:rPr sz="1400" b="0" i="0" dirty="0" err="1">
                <a:solidFill>
                  <a:srgbClr val="1E293B"/>
                </a:solidFill>
              </a:rPr>
              <a:t>niveles</a:t>
            </a:r>
            <a:r>
              <a:rPr sz="1400" b="0" i="0" dirty="0">
                <a:solidFill>
                  <a:srgbClr val="1E293B"/>
                </a:solidFill>
              </a:rPr>
              <a:t>: </a:t>
            </a:r>
            <a:r>
              <a:rPr sz="1400" b="0" i="0" dirty="0" err="1">
                <a:solidFill>
                  <a:srgbClr val="1E293B"/>
                </a:solidFill>
              </a:rPr>
              <a:t>sustituto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>
                <a:solidFill>
                  <a:srgbClr val="1E293B"/>
                </a:solidFill>
              </a:rPr>
              <a:t>directo</a:t>
            </a:r>
            <a:r>
              <a:rPr sz="1400" b="0" i="0" dirty="0">
                <a:solidFill>
                  <a:srgbClr val="1E293B"/>
                </a:solidFill>
              </a:rPr>
              <a:t> → </a:t>
            </a:r>
            <a:r>
              <a:rPr sz="1400" b="0" i="0" dirty="0" err="1">
                <a:solidFill>
                  <a:srgbClr val="1E293B"/>
                </a:solidFill>
              </a:rPr>
              <a:t>clase</a:t>
            </a:r>
            <a:r>
              <a:rPr sz="1400" b="0" i="0" dirty="0">
                <a:solidFill>
                  <a:srgbClr val="1E293B"/>
                </a:solidFill>
              </a:rPr>
              <a:t> ATC </a:t>
            </a:r>
            <a:r>
              <a:rPr sz="1400" b="0" i="0" dirty="0" err="1">
                <a:solidFill>
                  <a:srgbClr val="1E293B"/>
                </a:solidFill>
              </a:rPr>
              <a:t>completa</a:t>
            </a:r>
            <a:endParaRPr sz="1400" b="0" i="0" dirty="0">
              <a:solidFill>
                <a:srgbClr val="1E293B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2377440"/>
            <a:ext cx="1115568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42316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568C"/>
                </a:solidFill>
              </a:rPr>
              <a:t>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468880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E293B"/>
                </a:solidFill>
              </a:rPr>
              <a:t>Badge de </a:t>
            </a:r>
            <a:r>
              <a:rPr sz="1400" b="0" i="0" dirty="0" err="1">
                <a:solidFill>
                  <a:srgbClr val="1E293B"/>
                </a:solidFill>
              </a:rPr>
              <a:t>riesgo</a:t>
            </a:r>
            <a:r>
              <a:rPr sz="1400" b="0" i="0" dirty="0">
                <a:solidFill>
                  <a:srgbClr val="1E293B"/>
                </a:solidFill>
              </a:rPr>
              <a:t> ML </a:t>
            </a:r>
            <a:r>
              <a:rPr sz="1400" b="0" i="0" dirty="0" err="1">
                <a:solidFill>
                  <a:srgbClr val="1E293B"/>
                </a:solidFill>
              </a:rPr>
              <a:t>por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>
                <a:solidFill>
                  <a:srgbClr val="1E293B"/>
                </a:solidFill>
              </a:rPr>
              <a:t>medicamento</a:t>
            </a:r>
            <a:r>
              <a:rPr sz="1400" b="0" i="0" dirty="0">
                <a:solidFill>
                  <a:srgbClr val="1E293B"/>
                </a:solidFill>
              </a:rPr>
              <a:t>: </a:t>
            </a:r>
            <a:r>
              <a:rPr sz="1400" b="0" i="0" dirty="0" err="1">
                <a:solidFill>
                  <a:srgbClr val="1E293B"/>
                </a:solidFill>
              </a:rPr>
              <a:t>probabilidad</a:t>
            </a:r>
            <a:r>
              <a:rPr sz="1400" b="0" i="0" dirty="0">
                <a:solidFill>
                  <a:srgbClr val="1E293B"/>
                </a:solidFill>
              </a:rPr>
              <a:t> 0-100% con </a:t>
            </a:r>
            <a:r>
              <a:rPr sz="1400" b="0" i="0" dirty="0" err="1">
                <a:solidFill>
                  <a:srgbClr val="1E293B"/>
                </a:solidFill>
              </a:rPr>
              <a:t>nivel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 smtClean="0">
                <a:solidFill>
                  <a:srgbClr val="1E293B"/>
                </a:solidFill>
              </a:rPr>
              <a:t>Bajo</a:t>
            </a:r>
            <a:r>
              <a:rPr sz="1400" b="0" i="0" dirty="0" smtClean="0">
                <a:solidFill>
                  <a:srgbClr val="1E293B"/>
                </a:solidFill>
              </a:rPr>
              <a:t>/Medio/Alto/Cr</a:t>
            </a:r>
            <a:r>
              <a:rPr lang="es-419" sz="1400" b="0" i="0" dirty="0" smtClean="0">
                <a:solidFill>
                  <a:srgbClr val="1E293B"/>
                </a:solidFill>
              </a:rPr>
              <a:t>í</a:t>
            </a:r>
            <a:r>
              <a:rPr sz="1400" b="0" i="0" dirty="0" err="1" smtClean="0">
                <a:solidFill>
                  <a:srgbClr val="1E293B"/>
                </a:solidFill>
              </a:rPr>
              <a:t>tico</a:t>
            </a:r>
            <a:endParaRPr sz="1400" b="0" i="0" dirty="0">
              <a:solidFill>
                <a:srgbClr val="1E293B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02920" y="3017520"/>
            <a:ext cx="1115568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06324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568C"/>
                </a:solidFill>
              </a:rP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108960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</a:rPr>
              <a:t>Formulario</a:t>
            </a:r>
            <a:r>
              <a:rPr sz="1400" b="0" i="0" dirty="0">
                <a:solidFill>
                  <a:srgbClr val="1E293B"/>
                </a:solidFill>
              </a:rPr>
              <a:t> de </a:t>
            </a:r>
            <a:r>
              <a:rPr sz="1400" b="0" i="0" dirty="0" err="1" smtClean="0">
                <a:solidFill>
                  <a:srgbClr val="1E293B"/>
                </a:solidFill>
              </a:rPr>
              <a:t>reporte</a:t>
            </a:r>
            <a:r>
              <a:rPr sz="1400" b="0" i="0" dirty="0" smtClean="0">
                <a:solidFill>
                  <a:srgbClr val="1E293B"/>
                </a:solidFill>
              </a:rPr>
              <a:t>: </a:t>
            </a:r>
            <a:r>
              <a:rPr sz="1400" b="0" i="0" dirty="0" err="1">
                <a:solidFill>
                  <a:srgbClr val="1E293B"/>
                </a:solidFill>
              </a:rPr>
              <a:t>busca</a:t>
            </a:r>
            <a:r>
              <a:rPr sz="1400" b="0" i="0" dirty="0">
                <a:solidFill>
                  <a:srgbClr val="1E293B"/>
                </a:solidFill>
              </a:rPr>
              <a:t> con </a:t>
            </a:r>
            <a:r>
              <a:rPr sz="1400" b="0" i="0" dirty="0" err="1">
                <a:solidFill>
                  <a:srgbClr val="1E293B"/>
                </a:solidFill>
              </a:rPr>
              <a:t>ficha</a:t>
            </a:r>
            <a:r>
              <a:rPr sz="1400" b="0" i="0" dirty="0">
                <a:solidFill>
                  <a:srgbClr val="1E293B"/>
                </a:solidFill>
              </a:rPr>
              <a:t> CUM </a:t>
            </a:r>
            <a:r>
              <a:rPr sz="1400" b="0" i="0" dirty="0" err="1">
                <a:solidFill>
                  <a:srgbClr val="1E293B"/>
                </a:solidFill>
              </a:rPr>
              <a:t>completa</a:t>
            </a:r>
            <a:r>
              <a:rPr sz="1400" b="0" i="0" dirty="0">
                <a:solidFill>
                  <a:srgbClr val="1E293B"/>
                </a:solidFill>
              </a:rPr>
              <a:t> antes de </a:t>
            </a:r>
            <a:r>
              <a:rPr sz="1400" b="0" i="0" dirty="0" err="1">
                <a:solidFill>
                  <a:srgbClr val="1E293B"/>
                </a:solidFill>
              </a:rPr>
              <a:t>enviar</a:t>
            </a:r>
            <a:endParaRPr sz="1400" b="0" i="0" dirty="0">
              <a:solidFill>
                <a:srgbClr val="1E293B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1115568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70332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568C"/>
                </a:solidFill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74904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93B"/>
                </a:solidFill>
              </a:rPr>
              <a:t>Dashboard de vigilancia: top 20 reportados + spike detector vs. alertas INVIMA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97680"/>
            <a:ext cx="11155680" cy="566928"/>
          </a:xfrm>
          <a:prstGeom prst="rect">
            <a:avLst/>
          </a:prstGeom>
          <a:solidFill>
            <a:srgbClr val="F7F9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343400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568C"/>
                </a:solidFill>
              </a:rPr>
              <a:t>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389120"/>
            <a:ext cx="10332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smtClean="0">
                <a:solidFill>
                  <a:srgbClr val="1E293B"/>
                </a:solidFill>
              </a:rPr>
              <a:t>Se</a:t>
            </a:r>
            <a:r>
              <a:rPr lang="es-419" sz="1400" dirty="0">
                <a:solidFill>
                  <a:srgbClr val="1E293B"/>
                </a:solidFill>
              </a:rPr>
              <a:t>ñ</a:t>
            </a:r>
            <a:r>
              <a:rPr sz="1400" b="0" i="0" dirty="0" smtClean="0">
                <a:solidFill>
                  <a:srgbClr val="1E293B"/>
                </a:solidFill>
              </a:rPr>
              <a:t>ales </a:t>
            </a:r>
            <a:r>
              <a:rPr sz="1400" b="0" i="0" dirty="0" err="1">
                <a:solidFill>
                  <a:srgbClr val="1E293B"/>
                </a:solidFill>
              </a:rPr>
              <a:t>anticipadas</a:t>
            </a:r>
            <a:r>
              <a:rPr sz="1400" b="0" i="0" dirty="0">
                <a:solidFill>
                  <a:srgbClr val="1E293B"/>
                </a:solidFill>
              </a:rPr>
              <a:t>: spike </a:t>
            </a:r>
            <a:r>
              <a:rPr sz="1400" b="0" i="0" dirty="0" err="1">
                <a:solidFill>
                  <a:srgbClr val="1E293B"/>
                </a:solidFill>
              </a:rPr>
              <a:t>ciudadano</a:t>
            </a:r>
            <a:r>
              <a:rPr sz="1400" b="0" i="0" dirty="0">
                <a:solidFill>
                  <a:srgbClr val="1E293B"/>
                </a:solidFill>
              </a:rPr>
              <a:t> sin </a:t>
            </a:r>
            <a:r>
              <a:rPr sz="1400" b="0" i="0" dirty="0" err="1">
                <a:solidFill>
                  <a:srgbClr val="1E293B"/>
                </a:solidFill>
              </a:rPr>
              <a:t>alerta</a:t>
            </a:r>
            <a:r>
              <a:rPr sz="1400" b="0" i="0" dirty="0">
                <a:solidFill>
                  <a:srgbClr val="1E293B"/>
                </a:solidFill>
              </a:rPr>
              <a:t> INVIMA = </a:t>
            </a:r>
            <a:r>
              <a:rPr sz="1400" b="0" i="0" dirty="0" err="1">
                <a:solidFill>
                  <a:srgbClr val="1E293B"/>
                </a:solidFill>
              </a:rPr>
              <a:t>riesgo</a:t>
            </a:r>
            <a:r>
              <a:rPr sz="1400" b="0" i="0" dirty="0">
                <a:solidFill>
                  <a:srgbClr val="1E293B"/>
                </a:solidFill>
              </a:rPr>
              <a:t> </a:t>
            </a:r>
            <a:r>
              <a:rPr sz="1400" b="0" i="0" dirty="0" err="1">
                <a:solidFill>
                  <a:srgbClr val="1E293B"/>
                </a:solidFill>
              </a:rPr>
              <a:t>emergente</a:t>
            </a:r>
            <a:endParaRPr sz="1400" b="0" i="0" dirty="0">
              <a:solidFill>
                <a:srgbClr val="1E293B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2920" y="5577840"/>
            <a:ext cx="11155680" cy="658368"/>
          </a:xfrm>
          <a:prstGeom prst="rect">
            <a:avLst/>
          </a:prstGeom>
          <a:solidFill>
            <a:srgbClr val="EBF4FF"/>
          </a:solidFill>
          <a:ln w="12700">
            <a:solidFill>
              <a:srgbClr val="1A5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641848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568C"/>
                </a:solidFill>
              </a:rPr>
              <a:t>🌐  openfarma-production.up.railway.app  ·  CI/CD GitHub Actions  ·  16/16 tests verdes  ·  MIT License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Stack: FastAPI · SQLAlchemy · SQLite · React 19 · Vite · Tailwind · Recharts · scikit-learn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789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0D2B55"/>
                </a:solidFill>
              </a:rPr>
              <a:t>Impacto y Escalabilidad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14400"/>
            <a:ext cx="2560320" cy="50292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164592"/>
            <a:ext cx="822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008765"/>
                </a:solidFill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5394960" cy="4937760"/>
          </a:xfrm>
          <a:prstGeom prst="rect">
            <a:avLst/>
          </a:prstGeom>
          <a:solidFill>
            <a:srgbClr val="EDFBF4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097280"/>
            <a:ext cx="64008" cy="4937760"/>
          </a:xfrm>
          <a:prstGeom prst="rect">
            <a:avLst/>
          </a:prstGeom>
          <a:solidFill>
            <a:srgbClr val="0087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</a:rPr>
              <a:t>Impacto Inmediato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5029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</a:rPr>
              <a:t>✓  52,830 medicamentos monitoreados en tiempo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68880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</a:rPr>
              <a:t>✓  Canal </a:t>
            </a:r>
            <a:r>
              <a:rPr sz="1300" b="0" i="0" dirty="0" err="1">
                <a:solidFill>
                  <a:srgbClr val="1E293B"/>
                </a:solidFill>
              </a:rPr>
              <a:t>ciudadano</a:t>
            </a:r>
            <a:r>
              <a:rPr sz="1300" b="0" i="0" dirty="0">
                <a:solidFill>
                  <a:srgbClr val="1E293B"/>
                </a:solidFill>
              </a:rPr>
              <a:t> → </a:t>
            </a:r>
            <a:r>
              <a:rPr sz="1300" b="0" i="0" dirty="0" smtClean="0">
                <a:solidFill>
                  <a:srgbClr val="1E293B"/>
                </a:solidFill>
              </a:rPr>
              <a:t>se</a:t>
            </a:r>
            <a:r>
              <a:rPr lang="es-419" sz="1300" b="0" i="0" dirty="0" smtClean="0">
                <a:solidFill>
                  <a:srgbClr val="1E293B"/>
                </a:solidFill>
              </a:rPr>
              <a:t>ñ</a:t>
            </a:r>
            <a:r>
              <a:rPr sz="1300" b="0" i="0" dirty="0" smtClean="0">
                <a:solidFill>
                  <a:srgbClr val="1E293B"/>
                </a:solidFill>
              </a:rPr>
              <a:t>al </a:t>
            </a:r>
            <a:r>
              <a:rPr sz="1300" b="0" i="0" dirty="0" err="1">
                <a:solidFill>
                  <a:srgbClr val="1E293B"/>
                </a:solidFill>
              </a:rPr>
              <a:t>regulatoria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directa</a:t>
            </a:r>
            <a:r>
              <a:rPr sz="1300" b="0" i="0" dirty="0">
                <a:solidFill>
                  <a:srgbClr val="1E293B"/>
                </a:solidFill>
              </a:rPr>
              <a:t> a INVIMA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</a:rPr>
              <a:t>✓  </a:t>
            </a:r>
            <a:r>
              <a:rPr sz="1300" b="0" i="0" dirty="0" err="1">
                <a:solidFill>
                  <a:srgbClr val="1E293B"/>
                </a:solidFill>
              </a:rPr>
              <a:t>Anticipa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desabastecimiento</a:t>
            </a:r>
            <a:r>
              <a:rPr sz="1300" b="0" i="0" dirty="0">
                <a:solidFill>
                  <a:srgbClr val="1E293B"/>
                </a:solidFill>
              </a:rPr>
              <a:t> 30 </a:t>
            </a:r>
            <a:r>
              <a:rPr sz="1300" b="0" i="0" dirty="0" smtClean="0">
                <a:solidFill>
                  <a:srgbClr val="1E293B"/>
                </a:solidFill>
              </a:rPr>
              <a:t>d</a:t>
            </a:r>
            <a:r>
              <a:rPr lang="es-419" sz="1300" b="0" i="0" dirty="0" smtClean="0">
                <a:solidFill>
                  <a:srgbClr val="1E293B"/>
                </a:solidFill>
              </a:rPr>
              <a:t>í</a:t>
            </a:r>
            <a:r>
              <a:rPr sz="1300" b="0" i="0" dirty="0" smtClean="0">
                <a:solidFill>
                  <a:srgbClr val="1E293B"/>
                </a:solidFill>
              </a:rPr>
              <a:t>as </a:t>
            </a:r>
            <a:r>
              <a:rPr sz="1300" b="0" i="0" dirty="0">
                <a:solidFill>
                  <a:srgbClr val="1E293B"/>
                </a:solidFill>
              </a:rPr>
              <a:t>antes que </a:t>
            </a:r>
            <a:r>
              <a:rPr sz="1300" b="0" i="0" dirty="0" err="1">
                <a:solidFill>
                  <a:srgbClr val="1E293B"/>
                </a:solidFill>
              </a:rPr>
              <a:t>alertas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oficiales</a:t>
            </a:r>
            <a:endParaRPr sz="1300" b="0" i="0" dirty="0">
              <a:solidFill>
                <a:srgbClr val="1E293B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</a:rPr>
              <a:t>✓  </a:t>
            </a:r>
            <a:r>
              <a:rPr sz="1300" b="0" i="0" dirty="0" err="1">
                <a:solidFill>
                  <a:srgbClr val="1E293B"/>
                </a:solidFill>
              </a:rPr>
              <a:t>Alternativas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 smtClean="0">
                <a:solidFill>
                  <a:srgbClr val="1E293B"/>
                </a:solidFill>
              </a:rPr>
              <a:t>terap</a:t>
            </a:r>
            <a:r>
              <a:rPr lang="es-419" sz="1300" b="0" i="0" dirty="0" smtClean="0">
                <a:solidFill>
                  <a:srgbClr val="1E293B"/>
                </a:solidFill>
              </a:rPr>
              <a:t>é</a:t>
            </a:r>
            <a:r>
              <a:rPr sz="1300" b="0" i="0" dirty="0" err="1" smtClean="0">
                <a:solidFill>
                  <a:srgbClr val="1E293B"/>
                </a:solidFill>
              </a:rPr>
              <a:t>uticas</a:t>
            </a:r>
            <a:r>
              <a:rPr sz="1300" b="0" i="0" dirty="0">
                <a:solidFill>
                  <a:srgbClr val="1E293B"/>
                </a:solidFill>
              </a:rPr>
              <a:t>: reduce </a:t>
            </a:r>
            <a:r>
              <a:rPr sz="1300" b="0" i="0" dirty="0" err="1">
                <a:solidFill>
                  <a:srgbClr val="1E293B"/>
                </a:solidFill>
              </a:rPr>
              <a:t>impacto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en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pacientes</a:t>
            </a:r>
            <a:endParaRPr sz="1300" b="0" i="0" dirty="0">
              <a:solidFill>
                <a:srgbClr val="1E293B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5029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</a:rPr>
              <a:t>✓  </a:t>
            </a:r>
            <a:r>
              <a:rPr sz="1300" b="0" i="0" dirty="0" smtClean="0">
                <a:solidFill>
                  <a:srgbClr val="1E293B"/>
                </a:solidFill>
              </a:rPr>
              <a:t>C</a:t>
            </a:r>
            <a:r>
              <a:rPr lang="es-419" sz="1300" b="0" i="0" dirty="0" err="1" smtClean="0">
                <a:solidFill>
                  <a:srgbClr val="1E293B"/>
                </a:solidFill>
              </a:rPr>
              <a:t>ó</a:t>
            </a:r>
            <a:r>
              <a:rPr sz="1300" b="0" i="0" dirty="0" err="1" smtClean="0">
                <a:solidFill>
                  <a:srgbClr val="1E293B"/>
                </a:solidFill>
              </a:rPr>
              <a:t>digo</a:t>
            </a:r>
            <a:r>
              <a:rPr sz="1300" b="0" i="0" dirty="0" smtClean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abierto</a:t>
            </a:r>
            <a:r>
              <a:rPr sz="1300" b="0" i="0" dirty="0">
                <a:solidFill>
                  <a:srgbClr val="1E293B"/>
                </a:solidFill>
              </a:rPr>
              <a:t> MIT: </a:t>
            </a:r>
            <a:r>
              <a:rPr sz="1300" b="0" i="0" dirty="0" err="1">
                <a:solidFill>
                  <a:srgbClr val="1E293B"/>
                </a:solidFill>
              </a:rPr>
              <a:t>cualquier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entidad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puede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adoptarlo</a:t>
            </a:r>
            <a:endParaRPr sz="1300" b="0" i="0" dirty="0">
              <a:solidFill>
                <a:srgbClr val="1E293B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63640" y="1097280"/>
            <a:ext cx="5486400" cy="4937760"/>
          </a:xfrm>
          <a:prstGeom prst="rect">
            <a:avLst/>
          </a:prstGeom>
          <a:solidFill>
            <a:srgbClr val="FFF7ED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097280"/>
            <a:ext cx="64008" cy="493776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11887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</a:rPr>
              <a:t>Escalabilidad y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737360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</a:rPr>
              <a:t>🏥  </a:t>
            </a:r>
            <a:r>
              <a:rPr sz="1300" b="0" i="0" dirty="0" err="1" smtClean="0">
                <a:solidFill>
                  <a:srgbClr val="1E293B"/>
                </a:solidFill>
              </a:rPr>
              <a:t>Integraci</a:t>
            </a:r>
            <a:r>
              <a:rPr lang="es-419" sz="1300" b="0" i="0" dirty="0" err="1" smtClean="0">
                <a:solidFill>
                  <a:srgbClr val="1E293B"/>
                </a:solidFill>
              </a:rPr>
              <a:t>ó</a:t>
            </a:r>
            <a:r>
              <a:rPr sz="1300" b="0" i="0" dirty="0" smtClean="0">
                <a:solidFill>
                  <a:srgbClr val="1E293B"/>
                </a:solidFill>
              </a:rPr>
              <a:t>n </a:t>
            </a:r>
            <a:r>
              <a:rPr sz="1300" b="0" i="0" dirty="0" err="1">
                <a:solidFill>
                  <a:srgbClr val="1E293B"/>
                </a:solidFill>
              </a:rPr>
              <a:t>directa</a:t>
            </a:r>
            <a:r>
              <a:rPr sz="1300" b="0" i="0" dirty="0">
                <a:solidFill>
                  <a:srgbClr val="1E293B"/>
                </a:solidFill>
              </a:rPr>
              <a:t> API INVIMA (</a:t>
            </a:r>
            <a:r>
              <a:rPr sz="1300" b="0" i="0" dirty="0" err="1">
                <a:solidFill>
                  <a:srgbClr val="1E293B"/>
                </a:solidFill>
              </a:rPr>
              <a:t>alertas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 smtClean="0">
                <a:solidFill>
                  <a:srgbClr val="1E293B"/>
                </a:solidFill>
              </a:rPr>
              <a:t>autom</a:t>
            </a:r>
            <a:r>
              <a:rPr lang="es-419" sz="1300" b="0" i="0" dirty="0" smtClean="0">
                <a:solidFill>
                  <a:srgbClr val="1E293B"/>
                </a:solidFill>
              </a:rPr>
              <a:t>á</a:t>
            </a:r>
            <a:r>
              <a:rPr sz="1300" b="0" i="0" dirty="0" err="1" smtClean="0">
                <a:solidFill>
                  <a:srgbClr val="1E293B"/>
                </a:solidFill>
              </a:rPr>
              <a:t>ticas</a:t>
            </a:r>
            <a:r>
              <a:rPr sz="1300" b="0" i="0" dirty="0">
                <a:solidFill>
                  <a:srgbClr val="1E293B"/>
                </a:solidFill>
              </a:rPr>
              <a:t>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468880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</a:rPr>
              <a:t>📱  Notificaciones push a IPS y farmacias en riesgo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200400"/>
            <a:ext cx="5120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</a:rPr>
              <a:t>🌎  Replicable: Ecuador, Peru, Chile (DIGEMID/ISP)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931920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E293B"/>
                </a:solidFill>
              </a:rPr>
              <a:t>📈  Re-</a:t>
            </a:r>
            <a:r>
              <a:rPr sz="1300" b="0" i="0" dirty="0" err="1">
                <a:solidFill>
                  <a:srgbClr val="1E293B"/>
                </a:solidFill>
              </a:rPr>
              <a:t>entrenamiento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mensual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 smtClean="0">
                <a:solidFill>
                  <a:srgbClr val="1E293B"/>
                </a:solidFill>
              </a:rPr>
              <a:t>autom</a:t>
            </a:r>
            <a:r>
              <a:rPr lang="es-419" sz="1300" b="0" i="0" dirty="0" smtClean="0">
                <a:solidFill>
                  <a:srgbClr val="1E293B"/>
                </a:solidFill>
              </a:rPr>
              <a:t>á</a:t>
            </a:r>
            <a:r>
              <a:rPr sz="1300" b="0" i="0" dirty="0" err="1" smtClean="0">
                <a:solidFill>
                  <a:srgbClr val="1E293B"/>
                </a:solidFill>
              </a:rPr>
              <a:t>tico</a:t>
            </a:r>
            <a:r>
              <a:rPr sz="1300" b="0" i="0" dirty="0" smtClean="0">
                <a:solidFill>
                  <a:srgbClr val="1E293B"/>
                </a:solidFill>
              </a:rPr>
              <a:t> </a:t>
            </a:r>
            <a:r>
              <a:rPr sz="1300" b="0" i="0" dirty="0">
                <a:solidFill>
                  <a:srgbClr val="1E293B"/>
                </a:solidFill>
              </a:rPr>
              <a:t>con </a:t>
            </a:r>
            <a:r>
              <a:rPr sz="1300" b="0" i="0" dirty="0" err="1">
                <a:solidFill>
                  <a:srgbClr val="1E293B"/>
                </a:solidFill>
              </a:rPr>
              <a:t>datos</a:t>
            </a:r>
            <a:r>
              <a:rPr sz="1300" b="0" i="0" dirty="0">
                <a:solidFill>
                  <a:srgbClr val="1E293B"/>
                </a:solidFill>
              </a:rPr>
              <a:t> </a:t>
            </a:r>
            <a:r>
              <a:rPr sz="1300" b="0" i="0" dirty="0" err="1">
                <a:solidFill>
                  <a:srgbClr val="1E293B"/>
                </a:solidFill>
              </a:rPr>
              <a:t>nuevos</a:t>
            </a:r>
            <a:endParaRPr sz="1300" b="0" i="0" dirty="0">
              <a:solidFill>
                <a:srgbClr val="1E293B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46520" y="4663440"/>
            <a:ext cx="51206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419" sz="1300" b="0" i="0" dirty="0" smtClean="0">
                <a:solidFill>
                  <a:srgbClr val="1E293B"/>
                </a:solidFill>
              </a:rPr>
              <a:t>🙌</a:t>
            </a:r>
            <a:r>
              <a:rPr sz="1300" b="0" i="0" dirty="0" smtClean="0">
                <a:solidFill>
                  <a:srgbClr val="1E293B"/>
                </a:solidFill>
              </a:rPr>
              <a:t>  </a:t>
            </a:r>
            <a:r>
              <a:rPr sz="1300" b="0" i="0" dirty="0">
                <a:solidFill>
                  <a:srgbClr val="1E293B"/>
                </a:solidFill>
              </a:rPr>
              <a:t>Partnership con </a:t>
            </a:r>
            <a:r>
              <a:rPr sz="1300" b="0" i="0" dirty="0" err="1">
                <a:solidFill>
                  <a:srgbClr val="1E293B"/>
                </a:solidFill>
              </a:rPr>
              <a:t>MinSalud</a:t>
            </a:r>
            <a:r>
              <a:rPr sz="1300" b="0" i="0" dirty="0">
                <a:solidFill>
                  <a:srgbClr val="1E293B"/>
                </a:solidFill>
              </a:rPr>
              <a:t> para </a:t>
            </a:r>
            <a:r>
              <a:rPr sz="1300" b="0" i="0" dirty="0" err="1" smtClean="0">
                <a:solidFill>
                  <a:srgbClr val="1E293B"/>
                </a:solidFill>
              </a:rPr>
              <a:t>adopci</a:t>
            </a:r>
            <a:r>
              <a:rPr lang="es-419" sz="1300" b="0" i="0" dirty="0" err="1" smtClean="0">
                <a:solidFill>
                  <a:srgbClr val="1E293B"/>
                </a:solidFill>
              </a:rPr>
              <a:t>ó</a:t>
            </a:r>
            <a:r>
              <a:rPr sz="1300" b="0" i="0" dirty="0" smtClean="0">
                <a:solidFill>
                  <a:srgbClr val="1E293B"/>
                </a:solidFill>
              </a:rPr>
              <a:t>n </a:t>
            </a:r>
            <a:r>
              <a:rPr sz="1300" b="0" i="0" dirty="0" err="1">
                <a:solidFill>
                  <a:srgbClr val="1E293B"/>
                </a:solidFill>
              </a:rPr>
              <a:t>institucional</a:t>
            </a:r>
            <a:endParaRPr sz="1300" b="0" i="0" dirty="0">
              <a:solidFill>
                <a:srgbClr val="1E293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2920" y="6199632"/>
            <a:ext cx="11155680" cy="53035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6254496"/>
            <a:ext cx="107899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FF"/>
                </a:solidFill>
              </a:rPr>
              <a:t>⭐  github.com/</a:t>
            </a:r>
            <a:r>
              <a:rPr sz="1200" b="1" i="0" dirty="0" err="1">
                <a:solidFill>
                  <a:srgbClr val="FFFFFF"/>
                </a:solidFill>
              </a:rPr>
              <a:t>vamanrique</a:t>
            </a:r>
            <a:r>
              <a:rPr sz="1200" b="1" i="0" dirty="0">
                <a:solidFill>
                  <a:srgbClr val="FFFFFF"/>
                </a:solidFill>
              </a:rPr>
              <a:t>/</a:t>
            </a:r>
            <a:r>
              <a:rPr sz="1200" b="1" i="0" dirty="0" err="1">
                <a:solidFill>
                  <a:srgbClr val="FFFFFF"/>
                </a:solidFill>
              </a:rPr>
              <a:t>OpenFarma</a:t>
            </a:r>
            <a:r>
              <a:rPr sz="1200" b="1" i="0" dirty="0">
                <a:solidFill>
                  <a:srgbClr val="FFFFFF"/>
                </a:solidFill>
              </a:rPr>
              <a:t>  ·  🌐  </a:t>
            </a:r>
            <a:r>
              <a:rPr sz="1200" b="1" i="0" dirty="0" err="1">
                <a:solidFill>
                  <a:srgbClr val="FFFFFF"/>
                </a:solidFill>
              </a:rPr>
              <a:t>openfarma-production.up.railway.app</a:t>
            </a:r>
            <a:r>
              <a:rPr sz="1200" b="1" i="0" dirty="0">
                <a:solidFill>
                  <a:srgbClr val="FFFFFF"/>
                </a:solidFill>
              </a:rPr>
              <a:t>  ·  📧  vamanrique@gmail.com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862</Words>
  <Application>Microsoft Office PowerPoint</Application>
  <PresentationFormat>Personalizado</PresentationFormat>
  <Paragraphs>183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Ana Waldo</cp:lastModifiedBy>
  <cp:revision>4</cp:revision>
  <dcterms:created xsi:type="dcterms:W3CDTF">2013-01-27T09:14:16Z</dcterms:created>
  <dcterms:modified xsi:type="dcterms:W3CDTF">2026-07-14T02:40:20Z</dcterms:modified>
  <cp:category/>
</cp:coreProperties>
</file>