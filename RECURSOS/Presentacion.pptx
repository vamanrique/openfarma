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</a:rPr>
              <a:t>OpenFarma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65960"/>
            <a:ext cx="2926080" cy="64008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031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BDD5F5"/>
                </a:solidFill>
              </a:rPr>
              <a:t>Sistema de Alerta Temprana de
Desabastecimiento Farmaceutico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246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BA8D8"/>
                </a:solidFill>
              </a:rPr>
              <a:t>Prediccion con IA  ·  CUM + INVIMA  ·  Reportes Ciudadanos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931920"/>
            <a:ext cx="3931920" cy="548640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968496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Datos al Ecosistema 2026: IA para Colombia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3931920"/>
            <a:ext cx="2286000" cy="54864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96849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Categoria: Avanzado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709160"/>
            <a:ext cx="6217920" cy="1143000"/>
          </a:xfrm>
          <a:prstGeom prst="rect">
            <a:avLst/>
          </a:prstGeom>
          <a:solidFill>
            <a:srgbClr val="081D3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7316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⚠  EQUIPO — BORRADOR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0235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</a:rPr>
              <a:t>Lider: [NOMBRE]  ·  Analista ML: [NOMBRE]  ·  Desarrollador: [NOMBRE]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949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BA8D8"/>
                </a:solidFill>
              </a:rPr>
              <a:t>Contacto: vamanrique@gmail.com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309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8D8"/>
                </a:solidFill>
              </a:rPr>
              <a:t>openfarma-production.up.railway.app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57200"/>
            <a:ext cx="2331720" cy="146304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457200"/>
            <a:ext cx="64008" cy="146304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530352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8C"/>
                </a:solidFill>
              </a:rPr>
              <a:t>52,830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188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Medicamentos CUM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normalizados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457200"/>
            <a:ext cx="2331720" cy="1463040"/>
          </a:xfrm>
          <a:prstGeom prst="rect">
            <a:avLst/>
          </a:prstGeom>
          <a:solidFill>
            <a:srgbClr val="EDFB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55480" y="457200"/>
            <a:ext cx="64008" cy="1463040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530352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765"/>
                </a:solidFill>
              </a:rPr>
              <a:t>9,795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188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Alertas INVIMA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17 meses de historial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474720"/>
            <a:ext cx="2331720" cy="1463040"/>
          </a:xfrm>
          <a:prstGeom prst="rect">
            <a:avLst/>
          </a:prstGeom>
          <a:solidFill>
            <a:srgbClr val="EDFB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474720"/>
            <a:ext cx="64008" cy="1463040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3547872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765"/>
                </a:solidFill>
              </a:rPr>
              <a:t>0.8374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ROC-AUC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572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split temporal honesto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3474720"/>
            <a:ext cx="2331720" cy="146304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55480" y="3474720"/>
            <a:ext cx="64008" cy="146304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0072" y="3547872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8C"/>
                </a:solidFill>
              </a:rPr>
              <a:t>3,204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Grupos terapeuticos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4572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equivalencia INN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6492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github.com/vamanrique/OpenFarma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D2B55"/>
                </a:solidFill>
              </a:rPr>
              <a:t>El Problema: Desabastecimiento Farmaceutico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560320" cy="50292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C82020"/>
                </a:solidFill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C8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2020"/>
                </a:solidFill>
              </a:rPr>
              <a:t>Cuando INVIMA publica una alerta, el medicamento ya lleva semanas sin llegar a las farmacias.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3566160" cy="150876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64008" cy="1508760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8483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82020"/>
                </a:solidFill>
              </a:rPr>
              <a:t>9,795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alertas INVIMA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ene 2025 – may 2026 (17 meses)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3566160" cy="150876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11680"/>
            <a:ext cx="64008" cy="150876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08483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45A00"/>
                </a:solidFill>
              </a:rPr>
              <a:t>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432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semanas de retraso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089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entre escasez real y alerta oficial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011680"/>
            <a:ext cx="3566160" cy="150876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2011680"/>
            <a:ext cx="64008" cy="150876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208483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8C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7432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sistemas preventivos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1089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publicos integrados en Colombia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Consecuencias concretas: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60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2020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Pacientes con enfermedades cronicas interrumpen tratamientos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6360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2020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636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IPS y clinicas no pueden anticipar compras de emergencia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11149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2020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1114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INVIMA reacciona cuando la escasez ya es un hecho consumado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86983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2020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86983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No existe senal ciudadana integrada con los datos regulatorios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OpenFarma  |  Datos al Ecosistema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D2B55"/>
                </a:solidFill>
              </a:rPr>
              <a:t>Los Datos: Fuentes Publicas Integradas por Primera Vez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560320" cy="50292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08765"/>
                </a:solidFill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394960" cy="237744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5394960" cy="64008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8C"/>
                </a:solidFill>
              </a:rPr>
              <a:t>CUM Activos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52,830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B6E"/>
                </a:solidFill>
              </a:rPr>
              <a:t>presentaciones normalizadas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datos.gov.co · i7cb-raxc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5394960" cy="237744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97280"/>
            <a:ext cx="5394960" cy="64008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8C"/>
                </a:solidFill>
              </a:rPr>
              <a:t>CUM Renovacion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~8,000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B6E"/>
                </a:solidFill>
              </a:rPr>
              <a:t>registros en tramite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datos.gov.co · vgr4-gemg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5394960" cy="2377440"/>
          </a:xfrm>
          <a:prstGeom prst="rect">
            <a:avLst/>
          </a:prstGeom>
          <a:solidFill>
            <a:srgbClr val="EDFB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5394960" cy="64008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65"/>
                </a:solidFill>
              </a:rPr>
              <a:t>Alertas INVIMA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06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9,795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B6E"/>
                </a:solidFill>
              </a:rPr>
              <a:t>entradas limpias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PDFs portal INVIMA · 17 meses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703320"/>
            <a:ext cx="5394960" cy="237744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703320"/>
            <a:ext cx="5394960" cy="64008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2020"/>
                </a:solidFill>
              </a:rPr>
              <a:t>Reportes ciudadanos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06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activo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B6E"/>
                </a:solidFill>
              </a:rPr>
              <a:t>canal propio en crecimiento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Formulario OpenFarma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solidFill>
            <a:srgbClr val="EDFBF4"/>
          </a:solidFill>
          <a:ln w="12700">
            <a:solidFill>
              <a:srgbClr val="00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3550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65"/>
                </a:solidFill>
              </a:rPr>
              <a:t>✓  Primera integracion publica completa CUM + INVIMA + Reportes Ciudadanos en Colombia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D2B55"/>
                </a:solidFill>
              </a:rPr>
              <a:t>Arquitectura: Tres Componentes Integrados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560320" cy="50292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A568C"/>
                </a:solidFill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103120" cy="5394960"/>
          </a:xfrm>
          <a:prstGeom prst="rect">
            <a:avLst/>
          </a:prstGeom>
          <a:solidFill>
            <a:srgbClr val="EDFB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103120" cy="64008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43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765"/>
                </a:solidFill>
              </a:rPr>
              <a:t>CIUDADANO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Busca medicamento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Ve alternativas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Consulta riesgo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23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Reporta escasez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051560"/>
            <a:ext cx="2103120" cy="539496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4600" y="1051560"/>
            <a:ext cx="2103120" cy="64008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1143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68C"/>
                </a:solidFill>
              </a:rPr>
              <a:t>REACT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16916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React 19 + 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468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2461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Recharts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023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ARIA a11y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051560"/>
            <a:ext cx="2103120" cy="539496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1051560"/>
            <a:ext cx="2103120" cy="64008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143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45A00"/>
                </a:solidFill>
              </a:rPr>
              <a:t>FASTAPI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16916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Busqueda CUM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468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Alternativas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2461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Predicciones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023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Reportes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800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Cache INVIMA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1051560"/>
            <a:ext cx="2103120" cy="539496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5160" y="1051560"/>
            <a:ext cx="2103120" cy="64008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1143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2020"/>
                </a:solidFill>
              </a:rPr>
              <a:t>DATOS + 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16916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SQLite 52K CUM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468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3,204 grupos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2461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INVIMA 17m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023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RF + Calibrado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8006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Bias Tests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1051560"/>
            <a:ext cx="1463040" cy="539496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1051560"/>
            <a:ext cx="1463040" cy="64008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1143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2020"/>
                </a:solidFill>
              </a:rPr>
              <a:t>ALERTA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16916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Senales
tempranas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46888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30 dias
antes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Deploy: Railway · Auto-deploy desde GitHub main · nixpacks.toml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OpenFarma  |  Datos al Ecosistema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D2B55"/>
                </a:solidFill>
              </a:rPr>
              <a:t>Pipeline ETL: Calidad Farmaceutica de Alta Precision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560320" cy="50292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08765"/>
                </a:solidFill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65"/>
                </a:solidFill>
              </a:rPr>
              <a:t>52,830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20700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medicamentos del CUM descargados via Socrata API (datos.gov.co)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09928"/>
            <a:ext cx="111556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556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65"/>
                </a:solidFill>
              </a:rPr>
              <a:t>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819656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reglas de sinonimia INN + 50 patrones de sal farmaceutica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22576"/>
            <a:ext cx="111556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682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65"/>
                </a:solidFill>
              </a:rPr>
              <a:t>3,204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43230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grupos de equivalencia terapeutica — DeepSeek + reglas manuales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35224"/>
            <a:ext cx="111556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809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65"/>
                </a:solidFill>
              </a:rPr>
              <a:t>105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04495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rondas de auditoria INN: radiofarmacos, vacunas, biologicos, hemoderivados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47872"/>
            <a:ext cx="111556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93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65"/>
                </a:solidFill>
              </a:rPr>
              <a:t>9,795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657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alertas INVIMA parseadas de PDFs mensuales (17 meses, ene 2025–may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60520"/>
            <a:ext cx="111556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65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270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duplicados · 0 NULL concentracion · 0 mismatches DCI tras auditoria completa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37760"/>
            <a:ext cx="2651760" cy="1508760"/>
          </a:xfrm>
          <a:prstGeom prst="rect">
            <a:avLst/>
          </a:prstGeom>
          <a:solidFill>
            <a:srgbClr val="EDFB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937760"/>
            <a:ext cx="64008" cy="1508760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50109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765"/>
                </a:solidFill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69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DCIs normalizados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4937760"/>
            <a:ext cx="2651760" cy="150876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4937760"/>
            <a:ext cx="64008" cy="150876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2152" y="50109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8C"/>
                </a:solidFill>
              </a:rPr>
              <a:t>105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669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Rondas auditoria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937760"/>
            <a:ext cx="2651760" cy="1508760"/>
          </a:xfrm>
          <a:prstGeom prst="rect">
            <a:avLst/>
          </a:prstGeom>
          <a:solidFill>
            <a:srgbClr val="EDFB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937760"/>
            <a:ext cx="64008" cy="1508760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50109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765"/>
                </a:solidFill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669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Duplicados finales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4937760"/>
            <a:ext cx="2651760" cy="150876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4937760"/>
            <a:ext cx="64008" cy="150876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432" y="50109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8C"/>
                </a:solidFill>
              </a:rP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669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Meses INVIMA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Fallback local: si datos.gov.co no responde, los 52,830 productos siguen disponibles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D2B55"/>
                </a:solidFill>
              </a:rPr>
              <a:t>Modelo Predictivo: Integridad Estadistica Rigurosa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560320" cy="50292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C82020"/>
                </a:solidFill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2697480" cy="1554480"/>
          </a:xfrm>
          <a:prstGeom prst="rect">
            <a:avLst/>
          </a:prstGeom>
          <a:solidFill>
            <a:srgbClr val="EDFB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64008" cy="1554480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7043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765"/>
                </a:solidFill>
              </a:rPr>
              <a:t>0.8374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split temporal honesto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097280"/>
            <a:ext cx="2697480" cy="155448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64008" cy="155448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17043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8C"/>
                </a:solidFill>
              </a:rPr>
              <a:t>0.1707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Avg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1.6% positivos reales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097280"/>
            <a:ext cx="2697480" cy="155448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097280"/>
            <a:ext cx="64008" cy="155448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17043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8C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Meses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mar–may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097280"/>
            <a:ext cx="2697480" cy="155448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097280"/>
            <a:ext cx="64008" cy="1554480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17043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82020"/>
                </a:solidFill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B6E"/>
                </a:solidFill>
              </a:rPr>
              <a:t>10 CUM + 5 INVIMA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834640"/>
            <a:ext cx="5303520" cy="356616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834640"/>
            <a:ext cx="64008" cy="3566160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90779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Split Temporal (sin Data Leakage)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40156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▸  Train: ene 2025 – feb 2026 (14 meses)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941064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▸  Test:  mar – may 2026 (3 meses, nunca vistos)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48056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▸  Con split aleatorio: ROC-AUC era 1.000 (data leakage)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20056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▸  Con split temporal: ROC-AUC 0.8374 (honesto)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559552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▸  Modelo produccion: reentrenado en todos los datos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834640"/>
            <a:ext cx="5669280" cy="356616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2834640"/>
            <a:ext cx="64008" cy="3566160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9077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Top Features por Importancia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511296"/>
            <a:ext cx="838200" cy="274320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40156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invima_sev_actual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3401568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82020"/>
                </a:solidFill>
              </a:rPr>
              <a:t>27.5%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050792"/>
            <a:ext cx="643128" cy="274320"/>
          </a:xfrm>
          <a:prstGeom prst="rect">
            <a:avLst/>
          </a:prstGeom>
          <a:solidFill>
            <a:srgbClr val="C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94106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invima_peor_sev_hist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3941064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82020"/>
                </a:solidFill>
              </a:rPr>
              <a:t>21.1%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590288"/>
            <a:ext cx="393192" cy="27432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448056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invima_meses_monitoreado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448056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45A00"/>
                </a:solidFill>
              </a:rPr>
              <a:t>12.9%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129784"/>
            <a:ext cx="353568" cy="27432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502005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tasa_inactivacion_atc5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5020056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45A00"/>
                </a:solidFill>
              </a:rPr>
              <a:t>11.6%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669280"/>
            <a:ext cx="350520" cy="27432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555955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invima_sev_t3_avg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555955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45A00"/>
                </a:solidFill>
              </a:rPr>
              <a:t>11.5%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Tipo: CalibratedClassifierCV (Platt scaling) + RandomForestClassifier · scikit-learn 1.9.0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OpenFarma  |  Datos al Ecosistema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D2B55"/>
                </a:solidFill>
              </a:rPr>
              <a:t>La Aplicacion: Para Pacientes, Clinicos e INVIMA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560320" cy="50292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A568C"/>
                </a:solidFill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115568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568C"/>
                </a:solidFill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887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Busqueda en tiempo real: 52,830 medicamentos CUM via Socrata API + fallback local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1115568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568C"/>
                </a:solidFill>
              </a:rPr>
              <a:t>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288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Alternativas terapeuticas en 8 niveles: sustituto directo → clase ATC completa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77440"/>
            <a:ext cx="1115568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568C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68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Badge de riesgo ML por medicamento: probabilidad 0-100% con nivel Bajo/Medio/Alto/Critico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17520"/>
            <a:ext cx="1115568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6324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568C"/>
                </a:solidFill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089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Formulario de reporte mejorado: busca con ficha CUM completa antes de enviar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1115568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70332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568C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7490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Dashboard de vigilancia: top 20 reportados + spike detector vs. alertas INVIMA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97680"/>
            <a:ext cx="1115568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4340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568C"/>
                </a:solidFill>
              </a:rPr>
              <a:t>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891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Senales anticipadas: spike ciudadano sin alerta INVIMA = riesgo emergente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77840"/>
            <a:ext cx="11155680" cy="6583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641848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8C"/>
                </a:solidFill>
              </a:rPr>
              <a:t>🌐  openfarma-production.up.railway.app  ·  CI/CD GitHub Actions  ·  16/16 tests verdes  ·  MIT License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Stack: FastAPI · SQLAlchemy · SQLite · React 19 · Vite · Tailwind · Recharts · scikit-learn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D2B55"/>
                </a:solidFill>
              </a:rPr>
              <a:t>Impacto y Escalabilidad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560320" cy="50292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08765"/>
                </a:solidFill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394960" cy="4937760"/>
          </a:xfrm>
          <a:prstGeom prst="rect">
            <a:avLst/>
          </a:prstGeom>
          <a:solidFill>
            <a:srgbClr val="EDFB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64008" cy="4937760"/>
          </a:xfrm>
          <a:prstGeom prst="rect">
            <a:avLst/>
          </a:prstGeom>
          <a:solidFill>
            <a:srgbClr val="00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Impacto Inmediato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52,830 medicamentos monitoreados en tiempo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Canal ciudadano → senal regulatoria directa a INVIMA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Anticipa desabastecimiento 30 dias antes que alertas oficiales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Alternativas terapeuticas: reduce impacto en pacientes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Codigo abierto MIT: cualquier entidad puede adoptarlo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5486400" cy="493776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64008" cy="493776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Escalabilidad y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3736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🏥  Integracion directa API INVIMA (alertas automaticas)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📱  Notificaciones push a IPS y farmacias en riesgo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0040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🌎  Replicable: Ecuador, Peru, Chile (DIGEMID/ISP)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📈  Re-entrenamiento mensual automatico con datos nuevos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6344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🤝  Partnership con MinSalud para adopcion institucional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199632"/>
            <a:ext cx="11155680" cy="5303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254496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⭐  github.com/vamanrique/OpenFarma  ·  🌐  openfarma-production.up.railway.app  ·  📧  vamanrique@gmail.com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D2B55"/>
                </a:solidFill>
              </a:rPr>
              <a:t>El Equipo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560320" cy="50292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B45A00"/>
                </a:solidFill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1155680" cy="502920"/>
          </a:xfrm>
          <a:prstGeom prst="rect">
            <a:avLst/>
          </a:prstGeom>
          <a:solidFill>
            <a:srgbClr val="FFF7E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789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45A00"/>
                </a:solidFill>
              </a:rPr>
              <a:t>⚠  BORRADOR — Informacion de participantes pendiente de confirmacion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57600" cy="402336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3657600" cy="64008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0" y="1874519"/>
            <a:ext cx="1371600" cy="137160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9202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A568C"/>
                </a:solidFill>
              </a:rP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45A00"/>
                </a:solidFill>
              </a:rPr>
              <a:t>Lider de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30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[NOMBRE COMPLETO]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B6E"/>
                </a:solidFill>
              </a:rPr>
              <a:t>[Cargo / Institucion]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[Ciudad, Colombia]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691640"/>
            <a:ext cx="3657600" cy="402336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691640"/>
            <a:ext cx="3657600" cy="64008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1874519"/>
            <a:ext cx="1371600" cy="137160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9202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A568C"/>
                </a:solidFill>
              </a:rP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45A00"/>
                </a:solidFill>
              </a:rPr>
              <a:t>Analista de Datos /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730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[NOMBRE COMPLETO]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B6E"/>
                </a:solidFill>
              </a:rPr>
              <a:t>[Cargo / Institucion]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62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[Ciudad, Colombia]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691640"/>
            <a:ext cx="3657600" cy="402336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1691640"/>
            <a:ext cx="3657600" cy="64008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20" y="1874519"/>
            <a:ext cx="1371600" cy="137160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9202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A568C"/>
                </a:solidFill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45A00"/>
                </a:solidFill>
              </a:rPr>
              <a:t>Desarrollador Full-Stack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730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[NOMBRE COMPLETO]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B6E"/>
                </a:solidFill>
              </a:rPr>
              <a:t>[Cargo / Institucion]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462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[Ciudad, Colombia]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Requisito concurso: equipos 2-4 personas · minimo una mujer · al menos un perfil tecnico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8C"/>
                </a:solidFill>
              </a:rPr>
              <a:t>vamanrique@gmail.com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OpenFarma  |  Datos al Ecosistema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